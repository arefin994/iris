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38900"/>
  <p:notesSz cx="11430000" cy="6438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6059"/>
            <a:ext cx="9715500" cy="1352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6BEE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5784"/>
            <a:ext cx="8001000" cy="160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D9D8E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0A0C23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D9D8E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" y="-2"/>
            <a:ext cx="10536231" cy="643588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8534" y="-2"/>
            <a:ext cx="10483215" cy="6436360"/>
          </a:xfrm>
          <a:custGeom>
            <a:avLst/>
            <a:gdLst/>
            <a:ahLst/>
            <a:cxnLst/>
            <a:rect l="l" t="t" r="r" b="b"/>
            <a:pathLst>
              <a:path w="10483215" h="6436360">
                <a:moveTo>
                  <a:pt x="10482638" y="6435875"/>
                </a:moveTo>
                <a:lnTo>
                  <a:pt x="0" y="6435875"/>
                </a:lnTo>
                <a:lnTo>
                  <a:pt x="0" y="2"/>
                </a:lnTo>
                <a:lnTo>
                  <a:pt x="10482638" y="0"/>
                </a:lnTo>
                <a:lnTo>
                  <a:pt x="10482638" y="6435875"/>
                </a:lnTo>
                <a:close/>
              </a:path>
            </a:pathLst>
          </a:custGeom>
          <a:solidFill>
            <a:srgbClr val="0A0C23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60692" y="670335"/>
            <a:ext cx="8934450" cy="3644900"/>
          </a:xfrm>
          <a:custGeom>
            <a:avLst/>
            <a:gdLst/>
            <a:ahLst/>
            <a:cxnLst/>
            <a:rect l="l" t="t" r="r" b="b"/>
            <a:pathLst>
              <a:path w="8934450" h="3644900">
                <a:moveTo>
                  <a:pt x="180728" y="1866900"/>
                </a:moveTo>
                <a:lnTo>
                  <a:pt x="6816" y="1866900"/>
                </a:lnTo>
                <a:lnTo>
                  <a:pt x="0" y="1841500"/>
                </a:lnTo>
                <a:lnTo>
                  <a:pt x="5800" y="1803400"/>
                </a:lnTo>
                <a:lnTo>
                  <a:pt x="21818" y="1778000"/>
                </a:lnTo>
                <a:lnTo>
                  <a:pt x="45980" y="1752600"/>
                </a:lnTo>
                <a:lnTo>
                  <a:pt x="76212" y="1739900"/>
                </a:lnTo>
                <a:lnTo>
                  <a:pt x="76212" y="190500"/>
                </a:lnTo>
                <a:lnTo>
                  <a:pt x="81322" y="139700"/>
                </a:lnTo>
                <a:lnTo>
                  <a:pt x="95876" y="101600"/>
                </a:lnTo>
                <a:lnTo>
                  <a:pt x="118713" y="63500"/>
                </a:lnTo>
                <a:lnTo>
                  <a:pt x="148681" y="38090"/>
                </a:lnTo>
                <a:lnTo>
                  <a:pt x="184577" y="12700"/>
                </a:lnTo>
                <a:lnTo>
                  <a:pt x="225279" y="0"/>
                </a:lnTo>
                <a:lnTo>
                  <a:pt x="1705776" y="0"/>
                </a:lnTo>
                <a:lnTo>
                  <a:pt x="1746477" y="12700"/>
                </a:lnTo>
                <a:lnTo>
                  <a:pt x="1770782" y="25400"/>
                </a:lnTo>
                <a:lnTo>
                  <a:pt x="269610" y="25400"/>
                </a:lnTo>
                <a:lnTo>
                  <a:pt x="219627" y="38090"/>
                </a:lnTo>
                <a:lnTo>
                  <a:pt x="176134" y="63500"/>
                </a:lnTo>
                <a:lnTo>
                  <a:pt x="141868" y="88900"/>
                </a:lnTo>
                <a:lnTo>
                  <a:pt x="119402" y="139700"/>
                </a:lnTo>
                <a:lnTo>
                  <a:pt x="111332" y="190500"/>
                </a:lnTo>
                <a:lnTo>
                  <a:pt x="111332" y="1739900"/>
                </a:lnTo>
                <a:lnTo>
                  <a:pt x="141622" y="1752600"/>
                </a:lnTo>
                <a:lnTo>
                  <a:pt x="165751" y="1778000"/>
                </a:lnTo>
                <a:lnTo>
                  <a:pt x="181747" y="1803400"/>
                </a:lnTo>
                <a:lnTo>
                  <a:pt x="187544" y="1841500"/>
                </a:lnTo>
                <a:lnTo>
                  <a:pt x="180728" y="1866900"/>
                </a:lnTo>
                <a:close/>
              </a:path>
              <a:path w="8934450" h="3644900">
                <a:moveTo>
                  <a:pt x="3539117" y="1879600"/>
                </a:moveTo>
                <a:lnTo>
                  <a:pt x="3520503" y="1879600"/>
                </a:lnTo>
                <a:lnTo>
                  <a:pt x="3520503" y="1866900"/>
                </a:lnTo>
                <a:lnTo>
                  <a:pt x="3608656" y="1778000"/>
                </a:lnTo>
                <a:lnTo>
                  <a:pt x="3608656" y="190500"/>
                </a:lnTo>
                <a:lnTo>
                  <a:pt x="3613733" y="152400"/>
                </a:lnTo>
                <a:lnTo>
                  <a:pt x="3628197" y="114300"/>
                </a:lnTo>
                <a:lnTo>
                  <a:pt x="3650899" y="76200"/>
                </a:lnTo>
                <a:lnTo>
                  <a:pt x="3680718" y="38090"/>
                </a:lnTo>
                <a:lnTo>
                  <a:pt x="3756950" y="12700"/>
                </a:lnTo>
                <a:lnTo>
                  <a:pt x="3801118" y="0"/>
                </a:lnTo>
                <a:lnTo>
                  <a:pt x="5265309" y="0"/>
                </a:lnTo>
                <a:lnTo>
                  <a:pt x="5306187" y="12700"/>
                </a:lnTo>
                <a:lnTo>
                  <a:pt x="5330891" y="25400"/>
                </a:lnTo>
                <a:lnTo>
                  <a:pt x="5220816" y="25400"/>
                </a:lnTo>
                <a:lnTo>
                  <a:pt x="5224311" y="26284"/>
                </a:lnTo>
                <a:lnTo>
                  <a:pt x="3801124" y="38090"/>
                </a:lnTo>
                <a:lnTo>
                  <a:pt x="3751117" y="50718"/>
                </a:lnTo>
                <a:lnTo>
                  <a:pt x="3708066" y="63500"/>
                </a:lnTo>
                <a:lnTo>
                  <a:pt x="3674001" y="101600"/>
                </a:lnTo>
                <a:lnTo>
                  <a:pt x="3651674" y="139700"/>
                </a:lnTo>
                <a:lnTo>
                  <a:pt x="3644695" y="190500"/>
                </a:lnTo>
                <a:lnTo>
                  <a:pt x="3643660" y="190500"/>
                </a:lnTo>
                <a:lnTo>
                  <a:pt x="3643777" y="1790700"/>
                </a:lnTo>
                <a:lnTo>
                  <a:pt x="3669222" y="1816100"/>
                </a:lnTo>
                <a:lnTo>
                  <a:pt x="3605612" y="1816100"/>
                </a:lnTo>
                <a:lnTo>
                  <a:pt x="3539117" y="1879600"/>
                </a:lnTo>
                <a:close/>
              </a:path>
              <a:path w="8934450" h="3644900">
                <a:moveTo>
                  <a:pt x="7046393" y="1892300"/>
                </a:moveTo>
                <a:lnTo>
                  <a:pt x="7038080" y="1892300"/>
                </a:lnTo>
                <a:lnTo>
                  <a:pt x="7027779" y="1879600"/>
                </a:lnTo>
                <a:lnTo>
                  <a:pt x="7107151" y="1790700"/>
                </a:lnTo>
                <a:lnTo>
                  <a:pt x="7107245" y="190500"/>
                </a:lnTo>
                <a:lnTo>
                  <a:pt x="7112261" y="152400"/>
                </a:lnTo>
                <a:lnTo>
                  <a:pt x="7126816" y="114300"/>
                </a:lnTo>
                <a:lnTo>
                  <a:pt x="7149652" y="76200"/>
                </a:lnTo>
                <a:lnTo>
                  <a:pt x="7179722" y="50718"/>
                </a:lnTo>
                <a:lnTo>
                  <a:pt x="7215517" y="25400"/>
                </a:lnTo>
                <a:lnTo>
                  <a:pt x="7256219" y="12700"/>
                </a:lnTo>
                <a:lnTo>
                  <a:pt x="7300549" y="0"/>
                </a:lnTo>
                <a:lnTo>
                  <a:pt x="8664522" y="0"/>
                </a:lnTo>
                <a:lnTo>
                  <a:pt x="8708853" y="12700"/>
                </a:lnTo>
                <a:lnTo>
                  <a:pt x="8749554" y="25400"/>
                </a:lnTo>
                <a:lnTo>
                  <a:pt x="8773841" y="38090"/>
                </a:lnTo>
                <a:lnTo>
                  <a:pt x="7300586" y="38090"/>
                </a:lnTo>
                <a:lnTo>
                  <a:pt x="7250806" y="50718"/>
                </a:lnTo>
                <a:lnTo>
                  <a:pt x="7208380" y="63500"/>
                </a:lnTo>
                <a:lnTo>
                  <a:pt x="7207023" y="63500"/>
                </a:lnTo>
                <a:lnTo>
                  <a:pt x="7173483" y="101600"/>
                </a:lnTo>
                <a:lnTo>
                  <a:pt x="7172723" y="101600"/>
                </a:lnTo>
                <a:lnTo>
                  <a:pt x="7150734" y="139700"/>
                </a:lnTo>
                <a:lnTo>
                  <a:pt x="7150330" y="139700"/>
                </a:lnTo>
                <a:lnTo>
                  <a:pt x="7142272" y="190500"/>
                </a:lnTo>
                <a:lnTo>
                  <a:pt x="7142272" y="1790700"/>
                </a:lnTo>
                <a:lnTo>
                  <a:pt x="7179496" y="1828741"/>
                </a:lnTo>
                <a:lnTo>
                  <a:pt x="7107207" y="1828741"/>
                </a:lnTo>
                <a:lnTo>
                  <a:pt x="7046393" y="1892300"/>
                </a:lnTo>
                <a:close/>
              </a:path>
              <a:path w="8934450" h="3644900">
                <a:moveTo>
                  <a:pt x="1886101" y="1841500"/>
                </a:moveTo>
                <a:lnTo>
                  <a:pt x="1819722" y="1841500"/>
                </a:lnTo>
                <a:lnTo>
                  <a:pt x="1819722" y="190500"/>
                </a:lnTo>
                <a:lnTo>
                  <a:pt x="1811657" y="139700"/>
                </a:lnTo>
                <a:lnTo>
                  <a:pt x="1789195" y="88900"/>
                </a:lnTo>
                <a:lnTo>
                  <a:pt x="1754937" y="63500"/>
                </a:lnTo>
                <a:lnTo>
                  <a:pt x="1711450" y="38090"/>
                </a:lnTo>
                <a:lnTo>
                  <a:pt x="1661445" y="25400"/>
                </a:lnTo>
                <a:lnTo>
                  <a:pt x="1770782" y="25400"/>
                </a:lnTo>
                <a:lnTo>
                  <a:pt x="1782379" y="38090"/>
                </a:lnTo>
                <a:lnTo>
                  <a:pt x="1812342" y="63500"/>
                </a:lnTo>
                <a:lnTo>
                  <a:pt x="1835178" y="101600"/>
                </a:lnTo>
                <a:lnTo>
                  <a:pt x="1849733" y="139700"/>
                </a:lnTo>
                <a:lnTo>
                  <a:pt x="1854843" y="190500"/>
                </a:lnTo>
                <a:lnTo>
                  <a:pt x="1854843" y="1828741"/>
                </a:lnTo>
                <a:lnTo>
                  <a:pt x="1892099" y="1828741"/>
                </a:lnTo>
                <a:lnTo>
                  <a:pt x="1886101" y="1841500"/>
                </a:lnTo>
                <a:close/>
              </a:path>
              <a:path w="8934450" h="3644900">
                <a:moveTo>
                  <a:pt x="5224311" y="26284"/>
                </a:moveTo>
                <a:lnTo>
                  <a:pt x="5220816" y="25400"/>
                </a:lnTo>
                <a:lnTo>
                  <a:pt x="5330891" y="25400"/>
                </a:lnTo>
                <a:lnTo>
                  <a:pt x="5224311" y="26284"/>
                </a:lnTo>
                <a:close/>
              </a:path>
              <a:path w="8934450" h="3644900">
                <a:moveTo>
                  <a:pt x="5416555" y="1828741"/>
                </a:moveTo>
                <a:lnTo>
                  <a:pt x="5379796" y="1828741"/>
                </a:lnTo>
                <a:lnTo>
                  <a:pt x="5379796" y="190500"/>
                </a:lnTo>
                <a:lnTo>
                  <a:pt x="5379663" y="190500"/>
                </a:lnTo>
                <a:lnTo>
                  <a:pt x="5371680" y="139700"/>
                </a:lnTo>
                <a:lnTo>
                  <a:pt x="5349088" y="88900"/>
                </a:lnTo>
                <a:lnTo>
                  <a:pt x="5314657" y="63500"/>
                </a:lnTo>
                <a:lnTo>
                  <a:pt x="5270984" y="38090"/>
                </a:lnTo>
                <a:lnTo>
                  <a:pt x="5224311" y="26284"/>
                </a:lnTo>
                <a:lnTo>
                  <a:pt x="5330891" y="25400"/>
                </a:lnTo>
                <a:lnTo>
                  <a:pt x="5341270" y="38090"/>
                </a:lnTo>
                <a:lnTo>
                  <a:pt x="5342330" y="38090"/>
                </a:lnTo>
                <a:lnTo>
                  <a:pt x="5372391" y="63500"/>
                </a:lnTo>
                <a:lnTo>
                  <a:pt x="5395362" y="101600"/>
                </a:lnTo>
                <a:lnTo>
                  <a:pt x="5410007" y="139700"/>
                </a:lnTo>
                <a:lnTo>
                  <a:pt x="5415042" y="190500"/>
                </a:lnTo>
                <a:lnTo>
                  <a:pt x="5415151" y="1701800"/>
                </a:lnTo>
                <a:lnTo>
                  <a:pt x="5416555" y="1701800"/>
                </a:lnTo>
                <a:lnTo>
                  <a:pt x="5416555" y="1828741"/>
                </a:lnTo>
                <a:close/>
              </a:path>
              <a:path w="8934450" h="3644900">
                <a:moveTo>
                  <a:pt x="8927331" y="1866900"/>
                </a:moveTo>
                <a:lnTo>
                  <a:pt x="8753388" y="1866900"/>
                </a:lnTo>
                <a:lnTo>
                  <a:pt x="8746588" y="1841500"/>
                </a:lnTo>
                <a:lnTo>
                  <a:pt x="8752388" y="1803400"/>
                </a:lnTo>
                <a:lnTo>
                  <a:pt x="8768406" y="1778000"/>
                </a:lnTo>
                <a:lnTo>
                  <a:pt x="8792568" y="1752600"/>
                </a:lnTo>
                <a:lnTo>
                  <a:pt x="8822799" y="1739900"/>
                </a:lnTo>
                <a:lnTo>
                  <a:pt x="8822799" y="190500"/>
                </a:lnTo>
                <a:lnTo>
                  <a:pt x="8814733" y="139700"/>
                </a:lnTo>
                <a:lnTo>
                  <a:pt x="8792321" y="101600"/>
                </a:lnTo>
                <a:lnTo>
                  <a:pt x="8791537" y="101600"/>
                </a:lnTo>
                <a:lnTo>
                  <a:pt x="8758014" y="63500"/>
                </a:lnTo>
                <a:lnTo>
                  <a:pt x="8714244" y="50718"/>
                </a:lnTo>
                <a:lnTo>
                  <a:pt x="8664486" y="38090"/>
                </a:lnTo>
                <a:lnTo>
                  <a:pt x="8773850" y="38090"/>
                </a:lnTo>
                <a:lnTo>
                  <a:pt x="8785390" y="50718"/>
                </a:lnTo>
                <a:lnTo>
                  <a:pt x="8815419" y="76200"/>
                </a:lnTo>
                <a:lnTo>
                  <a:pt x="8838255" y="114300"/>
                </a:lnTo>
                <a:lnTo>
                  <a:pt x="8852810" y="152400"/>
                </a:lnTo>
                <a:lnTo>
                  <a:pt x="8857825" y="190500"/>
                </a:lnTo>
                <a:lnTo>
                  <a:pt x="8857920" y="1739900"/>
                </a:lnTo>
                <a:lnTo>
                  <a:pt x="8888209" y="1752600"/>
                </a:lnTo>
                <a:lnTo>
                  <a:pt x="8912339" y="1778000"/>
                </a:lnTo>
                <a:lnTo>
                  <a:pt x="8928335" y="1803400"/>
                </a:lnTo>
                <a:lnTo>
                  <a:pt x="8934132" y="1841500"/>
                </a:lnTo>
                <a:lnTo>
                  <a:pt x="8927331" y="1866900"/>
                </a:lnTo>
                <a:close/>
              </a:path>
              <a:path w="8934450" h="3644900">
                <a:moveTo>
                  <a:pt x="3751413" y="50718"/>
                </a:moveTo>
                <a:lnTo>
                  <a:pt x="3751158" y="50718"/>
                </a:lnTo>
                <a:lnTo>
                  <a:pt x="3753180" y="50197"/>
                </a:lnTo>
                <a:lnTo>
                  <a:pt x="3751413" y="50718"/>
                </a:lnTo>
                <a:close/>
              </a:path>
              <a:path w="8934450" h="3644900">
                <a:moveTo>
                  <a:pt x="3494046" y="3644900"/>
                </a:moveTo>
                <a:lnTo>
                  <a:pt x="2012301" y="3644900"/>
                </a:lnTo>
                <a:lnTo>
                  <a:pt x="1968133" y="3632200"/>
                </a:lnTo>
                <a:lnTo>
                  <a:pt x="1927608" y="3619500"/>
                </a:lnTo>
                <a:lnTo>
                  <a:pt x="1891875" y="3594100"/>
                </a:lnTo>
                <a:lnTo>
                  <a:pt x="1862083" y="3568700"/>
                </a:lnTo>
                <a:lnTo>
                  <a:pt x="1839380" y="3530600"/>
                </a:lnTo>
                <a:lnTo>
                  <a:pt x="1824916" y="3492500"/>
                </a:lnTo>
                <a:lnTo>
                  <a:pt x="1819840" y="3454400"/>
                </a:lnTo>
                <a:lnTo>
                  <a:pt x="1819840" y="1879600"/>
                </a:lnTo>
                <a:lnTo>
                  <a:pt x="1736018" y="1790700"/>
                </a:lnTo>
                <a:lnTo>
                  <a:pt x="1746320" y="1778000"/>
                </a:lnTo>
                <a:lnTo>
                  <a:pt x="1754632" y="1778000"/>
                </a:lnTo>
                <a:lnTo>
                  <a:pt x="1819722" y="1841500"/>
                </a:lnTo>
                <a:lnTo>
                  <a:pt x="1886101" y="1841500"/>
                </a:lnTo>
                <a:lnTo>
                  <a:pt x="1854843" y="1866900"/>
                </a:lnTo>
                <a:lnTo>
                  <a:pt x="1854843" y="3454400"/>
                </a:lnTo>
                <a:lnTo>
                  <a:pt x="1862857" y="3505200"/>
                </a:lnTo>
                <a:lnTo>
                  <a:pt x="1885184" y="3543300"/>
                </a:lnTo>
                <a:lnTo>
                  <a:pt x="1919249" y="3581400"/>
                </a:lnTo>
                <a:lnTo>
                  <a:pt x="1962631" y="3594100"/>
                </a:lnTo>
                <a:lnTo>
                  <a:pt x="1962956" y="3594100"/>
                </a:lnTo>
                <a:lnTo>
                  <a:pt x="2012301" y="3606800"/>
                </a:lnTo>
                <a:lnTo>
                  <a:pt x="3559782" y="3619500"/>
                </a:lnTo>
                <a:lnTo>
                  <a:pt x="3534908" y="3632200"/>
                </a:lnTo>
                <a:lnTo>
                  <a:pt x="3494046" y="3644900"/>
                </a:lnTo>
                <a:close/>
              </a:path>
              <a:path w="8934450" h="3644900">
                <a:moveTo>
                  <a:pt x="1892133" y="1828741"/>
                </a:moveTo>
                <a:lnTo>
                  <a:pt x="1854911" y="1828741"/>
                </a:lnTo>
                <a:lnTo>
                  <a:pt x="1913963" y="1778000"/>
                </a:lnTo>
                <a:lnTo>
                  <a:pt x="1924499" y="1778000"/>
                </a:lnTo>
                <a:lnTo>
                  <a:pt x="1932577" y="1790700"/>
                </a:lnTo>
                <a:lnTo>
                  <a:pt x="1892133" y="1828741"/>
                </a:lnTo>
                <a:close/>
              </a:path>
              <a:path w="8934450" h="3644900">
                <a:moveTo>
                  <a:pt x="6948991" y="3644900"/>
                </a:moveTo>
                <a:lnTo>
                  <a:pt x="5573194" y="3644900"/>
                </a:lnTo>
                <a:lnTo>
                  <a:pt x="5528863" y="3632200"/>
                </a:lnTo>
                <a:lnTo>
                  <a:pt x="5488161" y="3619500"/>
                </a:lnTo>
                <a:lnTo>
                  <a:pt x="5452252" y="3594100"/>
                </a:lnTo>
                <a:lnTo>
                  <a:pt x="5422297" y="3568700"/>
                </a:lnTo>
                <a:lnTo>
                  <a:pt x="5399461" y="3530600"/>
                </a:lnTo>
                <a:lnTo>
                  <a:pt x="5384906" y="3492500"/>
                </a:lnTo>
                <a:lnTo>
                  <a:pt x="5379891" y="3454400"/>
                </a:lnTo>
                <a:lnTo>
                  <a:pt x="5379796" y="1866900"/>
                </a:lnTo>
                <a:lnTo>
                  <a:pt x="5304871" y="1790700"/>
                </a:lnTo>
                <a:lnTo>
                  <a:pt x="5315174" y="1778000"/>
                </a:lnTo>
                <a:lnTo>
                  <a:pt x="5323485" y="1778000"/>
                </a:lnTo>
                <a:lnTo>
                  <a:pt x="5379731" y="1828741"/>
                </a:lnTo>
                <a:lnTo>
                  <a:pt x="5416555" y="1828741"/>
                </a:lnTo>
                <a:lnTo>
                  <a:pt x="5416555" y="1841500"/>
                </a:lnTo>
                <a:lnTo>
                  <a:pt x="5453900" y="1841500"/>
                </a:lnTo>
                <a:lnTo>
                  <a:pt x="5415151" y="1879600"/>
                </a:lnTo>
                <a:lnTo>
                  <a:pt x="5415151" y="3454400"/>
                </a:lnTo>
                <a:lnTo>
                  <a:pt x="5422412" y="3492500"/>
                </a:lnTo>
                <a:lnTo>
                  <a:pt x="5423239" y="3505200"/>
                </a:lnTo>
                <a:lnTo>
                  <a:pt x="5445319" y="3543300"/>
                </a:lnTo>
                <a:lnTo>
                  <a:pt x="5445722" y="3543300"/>
                </a:lnTo>
                <a:lnTo>
                  <a:pt x="5479975" y="3581400"/>
                </a:lnTo>
                <a:lnTo>
                  <a:pt x="5523396" y="3594100"/>
                </a:lnTo>
                <a:lnTo>
                  <a:pt x="5573311" y="3606800"/>
                </a:lnTo>
                <a:lnTo>
                  <a:pt x="7058328" y="3606800"/>
                </a:lnTo>
                <a:lnTo>
                  <a:pt x="7034023" y="3619500"/>
                </a:lnTo>
                <a:lnTo>
                  <a:pt x="6993322" y="3632200"/>
                </a:lnTo>
                <a:lnTo>
                  <a:pt x="6948991" y="3644900"/>
                </a:lnTo>
                <a:close/>
              </a:path>
              <a:path w="8934450" h="3644900">
                <a:moveTo>
                  <a:pt x="5453900" y="1841500"/>
                </a:moveTo>
                <a:lnTo>
                  <a:pt x="5416555" y="1841500"/>
                </a:lnTo>
                <a:lnTo>
                  <a:pt x="5483167" y="1778000"/>
                </a:lnTo>
                <a:lnTo>
                  <a:pt x="5491480" y="1778000"/>
                </a:lnTo>
                <a:lnTo>
                  <a:pt x="5501781" y="1790700"/>
                </a:lnTo>
                <a:lnTo>
                  <a:pt x="5453900" y="1841500"/>
                </a:lnTo>
                <a:close/>
              </a:path>
              <a:path w="8934450" h="3644900">
                <a:moveTo>
                  <a:pt x="3559782" y="3619500"/>
                </a:moveTo>
                <a:lnTo>
                  <a:pt x="3449559" y="3619500"/>
                </a:lnTo>
                <a:lnTo>
                  <a:pt x="3499764" y="3606800"/>
                </a:lnTo>
                <a:lnTo>
                  <a:pt x="3543400" y="3581400"/>
                </a:lnTo>
                <a:lnTo>
                  <a:pt x="3577832" y="3556000"/>
                </a:lnTo>
                <a:lnTo>
                  <a:pt x="3600423" y="3505200"/>
                </a:lnTo>
                <a:lnTo>
                  <a:pt x="3608539" y="3454400"/>
                </a:lnTo>
                <a:lnTo>
                  <a:pt x="3608539" y="1955800"/>
                </a:lnTo>
                <a:lnTo>
                  <a:pt x="3605612" y="1955800"/>
                </a:lnTo>
                <a:lnTo>
                  <a:pt x="3605612" y="1816100"/>
                </a:lnTo>
                <a:lnTo>
                  <a:pt x="3669222" y="1816100"/>
                </a:lnTo>
                <a:lnTo>
                  <a:pt x="3681010" y="1828741"/>
                </a:lnTo>
                <a:lnTo>
                  <a:pt x="3643832" y="1828741"/>
                </a:lnTo>
                <a:lnTo>
                  <a:pt x="3643764" y="3454400"/>
                </a:lnTo>
                <a:lnTo>
                  <a:pt x="3638640" y="3505200"/>
                </a:lnTo>
                <a:lnTo>
                  <a:pt x="3624011" y="3543300"/>
                </a:lnTo>
                <a:lnTo>
                  <a:pt x="3601064" y="3581400"/>
                </a:lnTo>
                <a:lnTo>
                  <a:pt x="3570972" y="3606800"/>
                </a:lnTo>
                <a:lnTo>
                  <a:pt x="3559782" y="3619500"/>
                </a:lnTo>
                <a:close/>
              </a:path>
              <a:path w="8934450" h="3644900">
                <a:moveTo>
                  <a:pt x="3717062" y="1879600"/>
                </a:moveTo>
                <a:lnTo>
                  <a:pt x="3698682" y="1879600"/>
                </a:lnTo>
                <a:lnTo>
                  <a:pt x="3643714" y="1828741"/>
                </a:lnTo>
                <a:lnTo>
                  <a:pt x="3681009" y="1828741"/>
                </a:lnTo>
                <a:lnTo>
                  <a:pt x="3717180" y="1866900"/>
                </a:lnTo>
                <a:lnTo>
                  <a:pt x="3717062" y="1879600"/>
                </a:lnTo>
                <a:close/>
              </a:path>
              <a:path w="8934450" h="3644900">
                <a:moveTo>
                  <a:pt x="7058328" y="3606800"/>
                </a:moveTo>
                <a:lnTo>
                  <a:pt x="6948873" y="3606800"/>
                </a:lnTo>
                <a:lnTo>
                  <a:pt x="6998870" y="3594100"/>
                </a:lnTo>
                <a:lnTo>
                  <a:pt x="7042315" y="3581400"/>
                </a:lnTo>
                <a:lnTo>
                  <a:pt x="7076589" y="3543300"/>
                </a:lnTo>
                <a:lnTo>
                  <a:pt x="7099074" y="3505200"/>
                </a:lnTo>
                <a:lnTo>
                  <a:pt x="7107151" y="3454400"/>
                </a:lnTo>
                <a:lnTo>
                  <a:pt x="7107151" y="1828741"/>
                </a:lnTo>
                <a:lnTo>
                  <a:pt x="7142389" y="1828741"/>
                </a:lnTo>
                <a:lnTo>
                  <a:pt x="7142295" y="3454400"/>
                </a:lnTo>
                <a:lnTo>
                  <a:pt x="7137279" y="3492500"/>
                </a:lnTo>
                <a:lnTo>
                  <a:pt x="7122724" y="3530600"/>
                </a:lnTo>
                <a:lnTo>
                  <a:pt x="7099888" y="3568700"/>
                </a:lnTo>
                <a:lnTo>
                  <a:pt x="7069933" y="3594100"/>
                </a:lnTo>
                <a:lnTo>
                  <a:pt x="7058328" y="3606800"/>
                </a:lnTo>
                <a:close/>
              </a:path>
              <a:path w="8934450" h="3644900">
                <a:moveTo>
                  <a:pt x="7214269" y="1892300"/>
                </a:moveTo>
                <a:lnTo>
                  <a:pt x="7205957" y="1892300"/>
                </a:lnTo>
                <a:lnTo>
                  <a:pt x="7142331" y="1828741"/>
                </a:lnTo>
                <a:lnTo>
                  <a:pt x="7179501" y="1828741"/>
                </a:lnTo>
                <a:lnTo>
                  <a:pt x="7224572" y="1879600"/>
                </a:lnTo>
                <a:lnTo>
                  <a:pt x="7214269" y="1892300"/>
                </a:lnTo>
                <a:close/>
              </a:path>
              <a:path w="8934450" h="3644900">
                <a:moveTo>
                  <a:pt x="93772" y="1930400"/>
                </a:moveTo>
                <a:lnTo>
                  <a:pt x="57290" y="1917700"/>
                </a:lnTo>
                <a:lnTo>
                  <a:pt x="27482" y="1905000"/>
                </a:lnTo>
                <a:lnTo>
                  <a:pt x="7404" y="1866900"/>
                </a:lnTo>
                <a:lnTo>
                  <a:pt x="180139" y="1866900"/>
                </a:lnTo>
                <a:lnTo>
                  <a:pt x="160062" y="1905000"/>
                </a:lnTo>
                <a:lnTo>
                  <a:pt x="130254" y="1917700"/>
                </a:lnTo>
                <a:lnTo>
                  <a:pt x="93772" y="1930400"/>
                </a:lnTo>
                <a:close/>
              </a:path>
              <a:path w="8934450" h="3644900">
                <a:moveTo>
                  <a:pt x="8840359" y="1930400"/>
                </a:moveTo>
                <a:lnTo>
                  <a:pt x="8803829" y="1917700"/>
                </a:lnTo>
                <a:lnTo>
                  <a:pt x="8774025" y="1905000"/>
                </a:lnTo>
                <a:lnTo>
                  <a:pt x="8753976" y="1866900"/>
                </a:lnTo>
                <a:lnTo>
                  <a:pt x="8926744" y="1866900"/>
                </a:lnTo>
                <a:lnTo>
                  <a:pt x="8906694" y="1905000"/>
                </a:lnTo>
                <a:lnTo>
                  <a:pt x="8876891" y="1917700"/>
                </a:lnTo>
                <a:lnTo>
                  <a:pt x="8840359" y="1930400"/>
                </a:lnTo>
                <a:close/>
              </a:path>
            </a:pathLst>
          </a:custGeom>
          <a:solidFill>
            <a:srgbClr val="A85B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81927" y="5232988"/>
            <a:ext cx="9290050" cy="8890"/>
          </a:xfrm>
          <a:custGeom>
            <a:avLst/>
            <a:gdLst/>
            <a:ahLst/>
            <a:cxnLst/>
            <a:rect l="l" t="t" r="r" b="b"/>
            <a:pathLst>
              <a:path w="9290050" h="8889">
                <a:moveTo>
                  <a:pt x="9289436" y="8780"/>
                </a:moveTo>
                <a:lnTo>
                  <a:pt x="0" y="8780"/>
                </a:lnTo>
                <a:lnTo>
                  <a:pt x="0" y="0"/>
                </a:lnTo>
                <a:lnTo>
                  <a:pt x="9289436" y="0"/>
                </a:lnTo>
                <a:lnTo>
                  <a:pt x="9289436" y="8780"/>
                </a:lnTo>
                <a:close/>
              </a:path>
            </a:pathLst>
          </a:custGeom>
          <a:solidFill>
            <a:srgbClr val="D9D8E8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1115" y="5965612"/>
            <a:ext cx="1617310" cy="3863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2352" y="963709"/>
            <a:ext cx="4930140" cy="1063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6BEE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91842" y="2366189"/>
            <a:ext cx="5135245" cy="1866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D9D8E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88177"/>
            <a:ext cx="36576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88177"/>
            <a:ext cx="26289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88177"/>
            <a:ext cx="26289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86842" y="4969235"/>
            <a:ext cx="3343275" cy="1470025"/>
            <a:chOff x="8086842" y="4969235"/>
            <a:chExt cx="3343275" cy="14700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79791" y="5925793"/>
              <a:ext cx="1754422" cy="41907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086842" y="4969235"/>
              <a:ext cx="3343275" cy="1470025"/>
            </a:xfrm>
            <a:custGeom>
              <a:avLst/>
              <a:gdLst/>
              <a:ahLst/>
              <a:cxnLst/>
              <a:rect l="l" t="t" r="r" b="b"/>
              <a:pathLst>
                <a:path w="3343275" h="1470025">
                  <a:moveTo>
                    <a:pt x="3343157" y="1469663"/>
                  </a:moveTo>
                  <a:lnTo>
                    <a:pt x="0" y="1469663"/>
                  </a:lnTo>
                  <a:lnTo>
                    <a:pt x="4723" y="1452934"/>
                  </a:lnTo>
                  <a:lnTo>
                    <a:pt x="23128" y="1408364"/>
                  </a:lnTo>
                  <a:lnTo>
                    <a:pt x="47133" y="1366800"/>
                  </a:lnTo>
                  <a:lnTo>
                    <a:pt x="77102" y="1329175"/>
                  </a:lnTo>
                  <a:lnTo>
                    <a:pt x="113397" y="1296421"/>
                  </a:lnTo>
                  <a:lnTo>
                    <a:pt x="160075" y="1267217"/>
                  </a:lnTo>
                  <a:lnTo>
                    <a:pt x="211146" y="1245161"/>
                  </a:lnTo>
                  <a:lnTo>
                    <a:pt x="265025" y="1228639"/>
                  </a:lnTo>
                  <a:lnTo>
                    <a:pt x="320124" y="1216034"/>
                  </a:lnTo>
                  <a:lnTo>
                    <a:pt x="369371" y="1206790"/>
                  </a:lnTo>
                  <a:lnTo>
                    <a:pt x="419086" y="1198793"/>
                  </a:lnTo>
                  <a:lnTo>
                    <a:pt x="469198" y="1191862"/>
                  </a:lnTo>
                  <a:lnTo>
                    <a:pt x="519629" y="1185818"/>
                  </a:lnTo>
                  <a:lnTo>
                    <a:pt x="570308" y="1180479"/>
                  </a:lnTo>
                  <a:lnTo>
                    <a:pt x="875403" y="1153196"/>
                  </a:lnTo>
                  <a:lnTo>
                    <a:pt x="925731" y="1147759"/>
                  </a:lnTo>
                  <a:lnTo>
                    <a:pt x="975711" y="1141587"/>
                  </a:lnTo>
                  <a:lnTo>
                    <a:pt x="1025270" y="1134501"/>
                  </a:lnTo>
                  <a:lnTo>
                    <a:pt x="1074334" y="1126320"/>
                  </a:lnTo>
                  <a:lnTo>
                    <a:pt x="1122828" y="1116864"/>
                  </a:lnTo>
                  <a:lnTo>
                    <a:pt x="1170678" y="1105952"/>
                  </a:lnTo>
                  <a:lnTo>
                    <a:pt x="1217810" y="1093406"/>
                  </a:lnTo>
                  <a:lnTo>
                    <a:pt x="1264149" y="1079045"/>
                  </a:lnTo>
                  <a:lnTo>
                    <a:pt x="1309623" y="1062688"/>
                  </a:lnTo>
                  <a:lnTo>
                    <a:pt x="1354155" y="1044156"/>
                  </a:lnTo>
                  <a:lnTo>
                    <a:pt x="1397673" y="1023268"/>
                  </a:lnTo>
                  <a:lnTo>
                    <a:pt x="1440101" y="999845"/>
                  </a:lnTo>
                  <a:lnTo>
                    <a:pt x="1481367" y="973706"/>
                  </a:lnTo>
                  <a:lnTo>
                    <a:pt x="1520836" y="945099"/>
                  </a:lnTo>
                  <a:lnTo>
                    <a:pt x="1558207" y="914429"/>
                  </a:lnTo>
                  <a:lnTo>
                    <a:pt x="1593678" y="881892"/>
                  </a:lnTo>
                  <a:lnTo>
                    <a:pt x="1627447" y="847687"/>
                  </a:lnTo>
                  <a:lnTo>
                    <a:pt x="1659712" y="812012"/>
                  </a:lnTo>
                  <a:lnTo>
                    <a:pt x="1690671" y="775066"/>
                  </a:lnTo>
                  <a:lnTo>
                    <a:pt x="1720523" y="737045"/>
                  </a:lnTo>
                  <a:lnTo>
                    <a:pt x="1749465" y="698149"/>
                  </a:lnTo>
                  <a:lnTo>
                    <a:pt x="1777696" y="658575"/>
                  </a:lnTo>
                  <a:lnTo>
                    <a:pt x="1805414" y="618521"/>
                  </a:lnTo>
                  <a:lnTo>
                    <a:pt x="1887471" y="497463"/>
                  </a:lnTo>
                  <a:lnTo>
                    <a:pt x="1915118" y="457472"/>
                  </a:lnTo>
                  <a:lnTo>
                    <a:pt x="1943244" y="417991"/>
                  </a:lnTo>
                  <a:lnTo>
                    <a:pt x="1972045" y="379219"/>
                  </a:lnTo>
                  <a:lnTo>
                    <a:pt x="2001720" y="341354"/>
                  </a:lnTo>
                  <a:lnTo>
                    <a:pt x="2032467" y="304594"/>
                  </a:lnTo>
                  <a:lnTo>
                    <a:pt x="2064485" y="269137"/>
                  </a:lnTo>
                  <a:lnTo>
                    <a:pt x="2097972" y="235181"/>
                  </a:lnTo>
                  <a:lnTo>
                    <a:pt x="2133125" y="202924"/>
                  </a:lnTo>
                  <a:lnTo>
                    <a:pt x="2170143" y="172565"/>
                  </a:lnTo>
                  <a:lnTo>
                    <a:pt x="2209224" y="144301"/>
                  </a:lnTo>
                  <a:lnTo>
                    <a:pt x="2250567" y="118330"/>
                  </a:lnTo>
                  <a:lnTo>
                    <a:pt x="2291639" y="96136"/>
                  </a:lnTo>
                  <a:lnTo>
                    <a:pt x="2333549" y="76744"/>
                  </a:lnTo>
                  <a:lnTo>
                    <a:pt x="2376251" y="59985"/>
                  </a:lnTo>
                  <a:lnTo>
                    <a:pt x="2419698" y="45693"/>
                  </a:lnTo>
                  <a:lnTo>
                    <a:pt x="2463845" y="33699"/>
                  </a:lnTo>
                  <a:lnTo>
                    <a:pt x="2508645" y="23835"/>
                  </a:lnTo>
                  <a:lnTo>
                    <a:pt x="2554052" y="15934"/>
                  </a:lnTo>
                  <a:lnTo>
                    <a:pt x="2600019" y="9829"/>
                  </a:lnTo>
                  <a:lnTo>
                    <a:pt x="2646499" y="5350"/>
                  </a:lnTo>
                  <a:lnTo>
                    <a:pt x="2693448" y="2331"/>
                  </a:lnTo>
                  <a:lnTo>
                    <a:pt x="2740817" y="603"/>
                  </a:lnTo>
                  <a:lnTo>
                    <a:pt x="2788561" y="0"/>
                  </a:lnTo>
                  <a:lnTo>
                    <a:pt x="2836634" y="352"/>
                  </a:lnTo>
                  <a:lnTo>
                    <a:pt x="2884989" y="1492"/>
                  </a:lnTo>
                  <a:lnTo>
                    <a:pt x="2979778" y="5350"/>
                  </a:lnTo>
                  <a:lnTo>
                    <a:pt x="2980065" y="5350"/>
                  </a:lnTo>
                  <a:lnTo>
                    <a:pt x="3178449" y="15493"/>
                  </a:lnTo>
                  <a:lnTo>
                    <a:pt x="3227482" y="17454"/>
                  </a:lnTo>
                  <a:lnTo>
                    <a:pt x="3276426" y="18860"/>
                  </a:lnTo>
                  <a:lnTo>
                    <a:pt x="3319849" y="19469"/>
                  </a:lnTo>
                  <a:lnTo>
                    <a:pt x="3343157" y="19469"/>
                  </a:lnTo>
                  <a:lnTo>
                    <a:pt x="3343157" y="1469663"/>
                  </a:lnTo>
                  <a:close/>
                </a:path>
              </a:pathLst>
            </a:custGeom>
            <a:solidFill>
              <a:srgbClr val="0A0C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8752" y="1080402"/>
            <a:ext cx="10225405" cy="185293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5300"/>
              </a:lnSpc>
              <a:spcBef>
                <a:spcPts val="95"/>
              </a:spcBef>
            </a:pPr>
            <a:r>
              <a:rPr dirty="0" sz="4650" spc="-300" b="1">
                <a:latin typeface="Arial"/>
                <a:cs typeface="Arial"/>
              </a:rPr>
              <a:t>IRIS:</a:t>
            </a:r>
            <a:r>
              <a:rPr dirty="0" sz="4650" spc="365" b="1">
                <a:latin typeface="Arial"/>
                <a:cs typeface="Arial"/>
              </a:rPr>
              <a:t> </a:t>
            </a:r>
            <a:r>
              <a:rPr dirty="0" sz="4650" spc="-100" b="1">
                <a:latin typeface="Arial"/>
                <a:cs typeface="Arial"/>
              </a:rPr>
              <a:t>ISP-</a:t>
            </a:r>
            <a:r>
              <a:rPr dirty="0" sz="4650" b="1">
                <a:latin typeface="Arial"/>
                <a:cs typeface="Arial"/>
              </a:rPr>
              <a:t>Free</a:t>
            </a:r>
            <a:r>
              <a:rPr dirty="0" sz="4650" spc="365" b="1">
                <a:latin typeface="Arial"/>
                <a:cs typeface="Arial"/>
              </a:rPr>
              <a:t> </a:t>
            </a:r>
            <a:r>
              <a:rPr dirty="0" sz="4650" b="1">
                <a:latin typeface="Arial"/>
                <a:cs typeface="Arial"/>
              </a:rPr>
              <a:t>RAW</a:t>
            </a:r>
            <a:r>
              <a:rPr dirty="0" sz="4650" spc="360" b="1">
                <a:latin typeface="Arial"/>
                <a:cs typeface="Arial"/>
              </a:rPr>
              <a:t> </a:t>
            </a:r>
            <a:r>
              <a:rPr dirty="0" sz="4650" spc="85" b="1">
                <a:latin typeface="Arial"/>
                <a:cs typeface="Arial"/>
              </a:rPr>
              <a:t>Image</a:t>
            </a:r>
            <a:r>
              <a:rPr dirty="0" sz="4650" spc="365" b="1">
                <a:latin typeface="Arial"/>
                <a:cs typeface="Arial"/>
              </a:rPr>
              <a:t> </a:t>
            </a:r>
            <a:r>
              <a:rPr dirty="0" sz="4650" spc="-10" b="1">
                <a:latin typeface="Arial"/>
                <a:cs typeface="Arial"/>
              </a:rPr>
              <a:t>Semantic </a:t>
            </a:r>
            <a:r>
              <a:rPr dirty="0" sz="4650" spc="55" b="1">
                <a:latin typeface="Arial"/>
                <a:cs typeface="Arial"/>
              </a:rPr>
              <a:t>Segmentation</a:t>
            </a:r>
            <a:endParaRPr sz="4650">
              <a:latin typeface="Arial"/>
              <a:cs typeface="Arial"/>
            </a:endParaRPr>
          </a:p>
          <a:p>
            <a:pPr algn="ctr" marR="45085">
              <a:lnSpc>
                <a:spcPct val="100000"/>
              </a:lnSpc>
              <a:spcBef>
                <a:spcPts val="170"/>
              </a:spcBef>
            </a:pPr>
            <a:r>
              <a:rPr dirty="0" sz="2050" b="1" i="1">
                <a:latin typeface="Arial"/>
                <a:cs typeface="Arial"/>
              </a:rPr>
              <a:t>Course:</a:t>
            </a:r>
            <a:r>
              <a:rPr dirty="0" sz="2050" spc="140" b="1" i="1">
                <a:latin typeface="Arial"/>
                <a:cs typeface="Arial"/>
              </a:rPr>
              <a:t> </a:t>
            </a:r>
            <a:r>
              <a:rPr dirty="0" sz="2050" b="1" i="1">
                <a:latin typeface="Arial"/>
                <a:cs typeface="Arial"/>
              </a:rPr>
              <a:t>CSE468</a:t>
            </a:r>
            <a:r>
              <a:rPr dirty="0" sz="2050" spc="145" b="1" i="1">
                <a:latin typeface="Arial"/>
                <a:cs typeface="Arial"/>
              </a:rPr>
              <a:t> </a:t>
            </a:r>
            <a:r>
              <a:rPr dirty="0" sz="2050" spc="155" b="1" i="1">
                <a:latin typeface="Arial"/>
                <a:cs typeface="Arial"/>
              </a:rPr>
              <a:t>- </a:t>
            </a:r>
            <a:r>
              <a:rPr dirty="0" sz="2050" b="1" i="1">
                <a:latin typeface="Arial"/>
                <a:cs typeface="Arial"/>
              </a:rPr>
              <a:t>Section</a:t>
            </a:r>
            <a:r>
              <a:rPr dirty="0" sz="2050" spc="150" b="1" i="1">
                <a:latin typeface="Arial"/>
                <a:cs typeface="Arial"/>
              </a:rPr>
              <a:t> </a:t>
            </a:r>
            <a:r>
              <a:rPr dirty="0" sz="2050" spc="15" b="1" i="1">
                <a:latin typeface="Arial"/>
                <a:cs typeface="Arial"/>
              </a:rPr>
              <a:t>2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03998" y="3235487"/>
            <a:ext cx="3101975" cy="1911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solidFill>
                  <a:srgbClr val="C6BEED"/>
                </a:solidFill>
                <a:latin typeface="Arial"/>
                <a:cs typeface="Arial"/>
              </a:rPr>
              <a:t>Group-</a:t>
            </a:r>
            <a:r>
              <a:rPr dirty="0" sz="2000" spc="-360" b="1">
                <a:solidFill>
                  <a:srgbClr val="C6BEED"/>
                </a:solidFill>
                <a:latin typeface="Arial"/>
                <a:cs typeface="Arial"/>
              </a:rPr>
              <a:t>11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500" spc="-55" b="1">
                <a:solidFill>
                  <a:srgbClr val="D9D8E8"/>
                </a:solidFill>
                <a:latin typeface="Trebuchet MS"/>
                <a:cs typeface="Trebuchet MS"/>
              </a:rPr>
              <a:t>Fatema </a:t>
            </a:r>
            <a:r>
              <a:rPr dirty="0" sz="1500" spc="-40" b="1">
                <a:solidFill>
                  <a:srgbClr val="D9D8E8"/>
                </a:solidFill>
                <a:latin typeface="Trebuchet MS"/>
                <a:cs typeface="Trebuchet MS"/>
              </a:rPr>
              <a:t>Tabassum</a:t>
            </a:r>
            <a:r>
              <a:rPr dirty="0" sz="1500" spc="-55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500" spc="-20">
                <a:solidFill>
                  <a:srgbClr val="D9D8E8"/>
                </a:solidFill>
                <a:latin typeface="Trebuchet MS"/>
                <a:cs typeface="Trebuchet MS"/>
              </a:rPr>
              <a:t>(2222904042)</a:t>
            </a:r>
            <a:endParaRPr sz="1500">
              <a:latin typeface="Trebuchet MS"/>
              <a:cs typeface="Trebuchet MS"/>
            </a:endParaRPr>
          </a:p>
          <a:p>
            <a:pPr algn="ctr" marL="177800" marR="196215" indent="-635">
              <a:lnSpc>
                <a:spcPct val="133300"/>
              </a:lnSpc>
              <a:spcBef>
                <a:spcPts val="1050"/>
              </a:spcBef>
            </a:pPr>
            <a:r>
              <a:rPr dirty="0" sz="1500" spc="-35" b="1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500" spc="-8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D9D8E8"/>
                </a:solidFill>
                <a:latin typeface="Trebuchet MS"/>
                <a:cs typeface="Trebuchet MS"/>
              </a:rPr>
              <a:t>Amin</a:t>
            </a:r>
            <a:r>
              <a:rPr dirty="0" sz="1500" spc="-8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(2221766642)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 b="1">
                <a:solidFill>
                  <a:srgbClr val="D9D8E8"/>
                </a:solidFill>
                <a:latin typeface="Trebuchet MS"/>
                <a:cs typeface="Trebuchet MS"/>
              </a:rPr>
              <a:t>Labiba</a:t>
            </a:r>
            <a:r>
              <a:rPr dirty="0" sz="1500" spc="-80" b="1">
                <a:solidFill>
                  <a:srgbClr val="D9D8E8"/>
                </a:solidFill>
                <a:latin typeface="Trebuchet MS"/>
                <a:cs typeface="Trebuchet MS"/>
              </a:rPr>
              <a:t> Faiza</a:t>
            </a:r>
            <a:r>
              <a:rPr dirty="0" sz="1500" spc="-75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0" b="1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500" spc="-8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(2221454042) </a:t>
            </a:r>
            <a:r>
              <a:rPr dirty="0" sz="1500" spc="-45" b="1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500" spc="-75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 b="1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500" spc="-7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D9D8E8"/>
                </a:solidFill>
                <a:latin typeface="Trebuchet MS"/>
                <a:cs typeface="Trebuchet MS"/>
              </a:rPr>
              <a:t>Ankon</a:t>
            </a:r>
            <a:r>
              <a:rPr dirty="0" sz="1500" spc="-7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9D8E8"/>
                </a:solidFill>
                <a:latin typeface="Trebuchet MS"/>
                <a:cs typeface="Trebuchet MS"/>
              </a:rPr>
              <a:t>(2222568042)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430000" cy="6438900"/>
            <a:chOff x="0" y="0"/>
            <a:chExt cx="1143000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429458" cy="643859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13548" y="38097"/>
              <a:ext cx="11116945" cy="6400800"/>
            </a:xfrm>
            <a:custGeom>
              <a:avLst/>
              <a:gdLst/>
              <a:ahLst/>
              <a:cxnLst/>
              <a:rect l="l" t="t" r="r" b="b"/>
              <a:pathLst>
                <a:path w="11116945" h="6400800">
                  <a:moveTo>
                    <a:pt x="11116977" y="6401104"/>
                  </a:moveTo>
                  <a:lnTo>
                    <a:pt x="0" y="6401104"/>
                  </a:lnTo>
                  <a:lnTo>
                    <a:pt x="0" y="0"/>
                  </a:lnTo>
                  <a:lnTo>
                    <a:pt x="11116977" y="0"/>
                  </a:lnTo>
                  <a:lnTo>
                    <a:pt x="11116977" y="6401104"/>
                  </a:lnTo>
                  <a:close/>
                </a:path>
              </a:pathLst>
            </a:custGeom>
            <a:solidFill>
              <a:srgbClr val="0A0C23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412" y="257"/>
              <a:ext cx="4284047" cy="643808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76242" y="4628930"/>
              <a:ext cx="5791200" cy="9525"/>
            </a:xfrm>
            <a:custGeom>
              <a:avLst/>
              <a:gdLst/>
              <a:ahLst/>
              <a:cxnLst/>
              <a:rect l="l" t="t" r="r" b="b"/>
              <a:pathLst>
                <a:path w="5791200" h="9525">
                  <a:moveTo>
                    <a:pt x="5790925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90925" y="0"/>
                  </a:lnTo>
                  <a:lnTo>
                    <a:pt x="5790925" y="9524"/>
                  </a:lnTo>
                  <a:close/>
                </a:path>
              </a:pathLst>
            </a:custGeom>
            <a:solidFill>
              <a:srgbClr val="D9D8E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292" y="2504956"/>
              <a:ext cx="76196" cy="7619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292" y="2876414"/>
              <a:ext cx="76196" cy="7619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292" y="3257396"/>
              <a:ext cx="76196" cy="7619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292" y="3628853"/>
              <a:ext cx="76196" cy="7619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79791" y="5925793"/>
              <a:ext cx="1754422" cy="419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20"/>
              </a:spcBef>
            </a:pPr>
            <a:r>
              <a:rPr dirty="0" spc="275"/>
              <a:t>Why</a:t>
            </a:r>
            <a:r>
              <a:rPr dirty="0" spc="180"/>
              <a:t> </a:t>
            </a:r>
            <a:r>
              <a:rPr dirty="0" spc="155"/>
              <a:t>RGB-</a:t>
            </a:r>
            <a:r>
              <a:rPr dirty="0" spc="250"/>
              <a:t>Based</a:t>
            </a:r>
            <a:r>
              <a:rPr dirty="0" spc="180"/>
              <a:t> </a:t>
            </a:r>
            <a:r>
              <a:rPr dirty="0" spc="235"/>
              <a:t>Vision </a:t>
            </a:r>
            <a:r>
              <a:rPr dirty="0" spc="125"/>
              <a:t>Fails</a:t>
            </a:r>
            <a:r>
              <a:rPr dirty="0" spc="175"/>
              <a:t> </a:t>
            </a:r>
            <a:r>
              <a:rPr dirty="0" spc="150"/>
              <a:t>in</a:t>
            </a:r>
            <a:r>
              <a:rPr dirty="0" spc="175"/>
              <a:t> </a:t>
            </a:r>
            <a:r>
              <a:rPr dirty="0" spc="145"/>
              <a:t>Real</a:t>
            </a:r>
            <a:r>
              <a:rPr dirty="0" spc="170"/>
              <a:t> </a:t>
            </a:r>
            <a:r>
              <a:rPr dirty="0" spc="225"/>
              <a:t>Conditions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662352" y="2249873"/>
            <a:ext cx="5281930" cy="204978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320675">
              <a:lnSpc>
                <a:spcPct val="100000"/>
              </a:lnSpc>
              <a:spcBef>
                <a:spcPts val="1185"/>
              </a:spcBef>
            </a:pPr>
            <a:r>
              <a:rPr dirty="0" sz="1500" spc="-25" b="1">
                <a:solidFill>
                  <a:srgbClr val="D9D8E8"/>
                </a:solidFill>
                <a:latin typeface="Trebuchet MS"/>
                <a:cs typeface="Trebuchet MS"/>
              </a:rPr>
              <a:t>ISPcompression</a:t>
            </a:r>
            <a:r>
              <a:rPr dirty="0" sz="1500" spc="-6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discards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sensorinformation</a:t>
            </a:r>
            <a:endParaRPr sz="1500">
              <a:latin typeface="Trebuchet MS"/>
              <a:cs typeface="Trebuchet MS"/>
            </a:endParaRPr>
          </a:p>
          <a:p>
            <a:pPr marL="320675" marR="1971039">
              <a:lnSpc>
                <a:spcPts val="2920"/>
              </a:lnSpc>
              <a:spcBef>
                <a:spcPts val="250"/>
              </a:spcBef>
            </a:pPr>
            <a:r>
              <a:rPr dirty="0" sz="1500" spc="-45" b="1">
                <a:solidFill>
                  <a:srgbClr val="D9D8E8"/>
                </a:solidFill>
                <a:latin typeface="Trebuchet MS"/>
                <a:cs typeface="Trebuchet MS"/>
              </a:rPr>
              <a:t>Dynamic-</a:t>
            </a:r>
            <a:r>
              <a:rPr dirty="0" sz="1500" spc="-25" b="1">
                <a:solidFill>
                  <a:srgbClr val="D9D8E8"/>
                </a:solidFill>
                <a:latin typeface="Trebuchet MS"/>
                <a:cs typeface="Trebuchet MS"/>
              </a:rPr>
              <a:t>range</a:t>
            </a:r>
            <a:r>
              <a:rPr dirty="0" sz="1500" spc="-5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D9D8E8"/>
                </a:solidFill>
                <a:latin typeface="Trebuchet MS"/>
                <a:cs typeface="Trebuchet MS"/>
              </a:rPr>
              <a:t>loss</a:t>
            </a:r>
            <a:r>
              <a:rPr dirty="0" sz="1500" spc="-7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kills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faint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D9D8E8"/>
                </a:solidFill>
                <a:latin typeface="Trebuchet MS"/>
                <a:cs typeface="Trebuchet MS"/>
              </a:rPr>
              <a:t>signals </a:t>
            </a:r>
            <a:r>
              <a:rPr dirty="0" sz="1500" spc="-25" b="1">
                <a:solidFill>
                  <a:srgbClr val="D9D8E8"/>
                </a:solidFill>
                <a:latin typeface="Trebuchet MS"/>
                <a:cs typeface="Trebuchet MS"/>
              </a:rPr>
              <a:t>Noise</a:t>
            </a:r>
            <a:r>
              <a:rPr dirty="0" sz="1500" spc="-65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0" b="1">
                <a:solidFill>
                  <a:srgbClr val="D9D8E8"/>
                </a:solidFill>
                <a:latin typeface="Trebuchet MS"/>
                <a:cs typeface="Trebuchet MS"/>
              </a:rPr>
              <a:t>patterns</a:t>
            </a:r>
            <a:r>
              <a:rPr dirty="0" sz="1500" spc="-9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removed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or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altered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Poor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performance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in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low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light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29">
                <a:solidFill>
                  <a:srgbClr val="D9D8E8"/>
                </a:solidFill>
                <a:latin typeface="Trebuchet MS"/>
                <a:cs typeface="Trebuchet MS"/>
              </a:rPr>
              <a:t>/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9D8E8"/>
                </a:solidFill>
                <a:latin typeface="Trebuchet MS"/>
                <a:cs typeface="Trebuchet MS"/>
              </a:rPr>
              <a:t>fog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Message: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ISP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pipelines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that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forms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sRGB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9D8E8"/>
                </a:solidFill>
                <a:latin typeface="Trebuchet MS"/>
                <a:cs typeface="Trebuchet MS"/>
              </a:rPr>
              <a:t>images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discard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critical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9D8E8"/>
                </a:solidFill>
                <a:latin typeface="Trebuchet MS"/>
                <a:cs typeface="Trebuchet MS"/>
              </a:rPr>
              <a:t>data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62352" y="4816156"/>
            <a:ext cx="5493385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 number: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Fatema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Tabassum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(2222904042),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D9D8E8"/>
                </a:solidFill>
                <a:latin typeface="Trebuchet MS"/>
                <a:cs typeface="Trebuchet MS"/>
              </a:rPr>
              <a:t>Amin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Labiba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D9D8E8"/>
                </a:solidFill>
                <a:latin typeface="Trebuchet MS"/>
                <a:cs typeface="Trebuchet MS"/>
              </a:rPr>
              <a:t>Ankon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D9D8E8"/>
                </a:solidFill>
                <a:latin typeface="Trebuchet MS"/>
                <a:cs typeface="Trebuchet MS"/>
              </a:rPr>
              <a:t>(2222568042)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232514" y="5649359"/>
            <a:ext cx="2197735" cy="789940"/>
          </a:xfrm>
          <a:custGeom>
            <a:avLst/>
            <a:gdLst/>
            <a:ahLst/>
            <a:cxnLst/>
            <a:rect l="l" t="t" r="r" b="b"/>
            <a:pathLst>
              <a:path w="2197734" h="789939">
                <a:moveTo>
                  <a:pt x="2197485" y="167655"/>
                </a:moveTo>
                <a:lnTo>
                  <a:pt x="1535673" y="167655"/>
                </a:lnTo>
                <a:lnTo>
                  <a:pt x="1584301" y="167450"/>
                </a:lnTo>
                <a:lnTo>
                  <a:pt x="1632701" y="166188"/>
                </a:lnTo>
                <a:lnTo>
                  <a:pt x="1682699" y="163604"/>
                </a:lnTo>
                <a:lnTo>
                  <a:pt x="1682019" y="163604"/>
                </a:lnTo>
                <a:lnTo>
                  <a:pt x="1728633" y="159820"/>
                </a:lnTo>
                <a:lnTo>
                  <a:pt x="1776072" y="154379"/>
                </a:lnTo>
                <a:lnTo>
                  <a:pt x="1823098" y="147209"/>
                </a:lnTo>
                <a:lnTo>
                  <a:pt x="1869664" y="138143"/>
                </a:lnTo>
                <a:lnTo>
                  <a:pt x="1915725" y="127013"/>
                </a:lnTo>
                <a:lnTo>
                  <a:pt x="1961234" y="113651"/>
                </a:lnTo>
                <a:lnTo>
                  <a:pt x="2006799" y="97724"/>
                </a:lnTo>
                <a:lnTo>
                  <a:pt x="2050823" y="79803"/>
                </a:lnTo>
                <a:lnTo>
                  <a:pt x="2093378" y="59979"/>
                </a:lnTo>
                <a:lnTo>
                  <a:pt x="2134537" y="38340"/>
                </a:lnTo>
                <a:lnTo>
                  <a:pt x="2174372" y="14976"/>
                </a:lnTo>
                <a:lnTo>
                  <a:pt x="2197485" y="0"/>
                </a:lnTo>
                <a:lnTo>
                  <a:pt x="2197485" y="167655"/>
                </a:lnTo>
                <a:close/>
              </a:path>
              <a:path w="2197734" h="789939">
                <a:moveTo>
                  <a:pt x="2197485" y="789540"/>
                </a:moveTo>
                <a:lnTo>
                  <a:pt x="0" y="789540"/>
                </a:lnTo>
                <a:lnTo>
                  <a:pt x="15853" y="766631"/>
                </a:lnTo>
                <a:lnTo>
                  <a:pt x="97910" y="645573"/>
                </a:lnTo>
                <a:lnTo>
                  <a:pt x="125557" y="605582"/>
                </a:lnTo>
                <a:lnTo>
                  <a:pt x="153682" y="566101"/>
                </a:lnTo>
                <a:lnTo>
                  <a:pt x="182484" y="527329"/>
                </a:lnTo>
                <a:lnTo>
                  <a:pt x="212159" y="489464"/>
                </a:lnTo>
                <a:lnTo>
                  <a:pt x="242906" y="452704"/>
                </a:lnTo>
                <a:lnTo>
                  <a:pt x="274924" y="417247"/>
                </a:lnTo>
                <a:lnTo>
                  <a:pt x="308410" y="383291"/>
                </a:lnTo>
                <a:lnTo>
                  <a:pt x="343564" y="351034"/>
                </a:lnTo>
                <a:lnTo>
                  <a:pt x="380582" y="320675"/>
                </a:lnTo>
                <a:lnTo>
                  <a:pt x="419663" y="292411"/>
                </a:lnTo>
                <a:lnTo>
                  <a:pt x="461006" y="266440"/>
                </a:lnTo>
                <a:lnTo>
                  <a:pt x="502078" y="244246"/>
                </a:lnTo>
                <a:lnTo>
                  <a:pt x="543988" y="224854"/>
                </a:lnTo>
                <a:lnTo>
                  <a:pt x="586690" y="208095"/>
                </a:lnTo>
                <a:lnTo>
                  <a:pt x="630137" y="193803"/>
                </a:lnTo>
                <a:lnTo>
                  <a:pt x="674284" y="181809"/>
                </a:lnTo>
                <a:lnTo>
                  <a:pt x="719084" y="171945"/>
                </a:lnTo>
                <a:lnTo>
                  <a:pt x="764491" y="164044"/>
                </a:lnTo>
                <a:lnTo>
                  <a:pt x="810458" y="157939"/>
                </a:lnTo>
                <a:lnTo>
                  <a:pt x="856938" y="153460"/>
                </a:lnTo>
                <a:lnTo>
                  <a:pt x="903886" y="150441"/>
                </a:lnTo>
                <a:lnTo>
                  <a:pt x="951256" y="148713"/>
                </a:lnTo>
                <a:lnTo>
                  <a:pt x="999000" y="148110"/>
                </a:lnTo>
                <a:lnTo>
                  <a:pt x="1047073" y="148462"/>
                </a:lnTo>
                <a:lnTo>
                  <a:pt x="1095428" y="149602"/>
                </a:lnTo>
                <a:lnTo>
                  <a:pt x="1190217" y="153460"/>
                </a:lnTo>
                <a:lnTo>
                  <a:pt x="1190504" y="153460"/>
                </a:lnTo>
                <a:lnTo>
                  <a:pt x="1388888" y="163604"/>
                </a:lnTo>
                <a:lnTo>
                  <a:pt x="1437921" y="165564"/>
                </a:lnTo>
                <a:lnTo>
                  <a:pt x="1486864" y="166970"/>
                </a:lnTo>
                <a:lnTo>
                  <a:pt x="1535673" y="167655"/>
                </a:lnTo>
                <a:lnTo>
                  <a:pt x="2197485" y="167655"/>
                </a:lnTo>
                <a:lnTo>
                  <a:pt x="2197485" y="789540"/>
                </a:lnTo>
                <a:close/>
              </a:path>
            </a:pathLst>
          </a:custGeom>
          <a:solidFill>
            <a:srgbClr val="0A0C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65" y="1790615"/>
            <a:ext cx="3657426" cy="181918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76242" y="4743225"/>
            <a:ext cx="10077450" cy="9525"/>
          </a:xfrm>
          <a:custGeom>
            <a:avLst/>
            <a:gdLst/>
            <a:ahLst/>
            <a:cxnLst/>
            <a:rect l="l" t="t" r="r" b="b"/>
            <a:pathLst>
              <a:path w="10077450" h="9525">
                <a:moveTo>
                  <a:pt x="10076972" y="9524"/>
                </a:moveTo>
                <a:lnTo>
                  <a:pt x="0" y="9524"/>
                </a:lnTo>
                <a:lnTo>
                  <a:pt x="0" y="0"/>
                </a:lnTo>
                <a:lnTo>
                  <a:pt x="10076972" y="0"/>
                </a:lnTo>
                <a:lnTo>
                  <a:pt x="10076972" y="9524"/>
                </a:lnTo>
                <a:close/>
              </a:path>
            </a:pathLst>
          </a:custGeom>
          <a:solidFill>
            <a:srgbClr val="D9D8E8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4191" y="2485907"/>
            <a:ext cx="76196" cy="761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4191" y="2866889"/>
            <a:ext cx="76196" cy="761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4191" y="3238346"/>
            <a:ext cx="76196" cy="76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4191" y="3619328"/>
            <a:ext cx="76196" cy="761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79791" y="5925793"/>
            <a:ext cx="1754422" cy="4190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891842" y="1015927"/>
            <a:ext cx="594296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204"/>
              <a:t>Learning</a:t>
            </a:r>
            <a:r>
              <a:rPr dirty="0" spc="185"/>
              <a:t> </a:t>
            </a:r>
            <a:r>
              <a:rPr dirty="0" spc="190"/>
              <a:t>Directly</a:t>
            </a:r>
            <a:r>
              <a:rPr dirty="0" spc="185"/>
              <a:t> from </a:t>
            </a:r>
            <a:r>
              <a:rPr dirty="0" spc="275"/>
              <a:t>RAW </a:t>
            </a:r>
            <a:r>
              <a:rPr dirty="0" spc="135"/>
              <a:t>Data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20675">
              <a:lnSpc>
                <a:spcPct val="100000"/>
              </a:lnSpc>
              <a:spcBef>
                <a:spcPts val="114"/>
              </a:spcBef>
            </a:pPr>
            <a:r>
              <a:rPr dirty="0" spc="-10" b="1">
                <a:latin typeface="Trebuchet MS"/>
                <a:cs typeface="Trebuchet MS"/>
              </a:rPr>
              <a:t>Skip</a:t>
            </a:r>
            <a:r>
              <a:rPr dirty="0" spc="-85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ISP</a:t>
            </a:r>
            <a:r>
              <a:rPr dirty="0" spc="-105" b="1">
                <a:latin typeface="Trebuchet MS"/>
                <a:cs typeface="Trebuchet MS"/>
              </a:rPr>
              <a:t> </a:t>
            </a:r>
            <a:r>
              <a:rPr dirty="0" spc="-50"/>
              <a:t>4operate</a:t>
            </a:r>
            <a:r>
              <a:rPr dirty="0" spc="-105"/>
              <a:t> </a:t>
            </a:r>
            <a:r>
              <a:rPr dirty="0" spc="-30"/>
              <a:t>on</a:t>
            </a:r>
            <a:r>
              <a:rPr dirty="0" spc="-105"/>
              <a:t> </a:t>
            </a:r>
            <a:r>
              <a:rPr dirty="0" spc="-10"/>
              <a:t>sensoroutput</a:t>
            </a:r>
          </a:p>
          <a:p>
            <a:pPr marL="320675" marR="5080">
              <a:lnSpc>
                <a:spcPct val="162500"/>
              </a:lnSpc>
              <a:spcBef>
                <a:spcPts val="30"/>
              </a:spcBef>
            </a:pPr>
            <a:r>
              <a:rPr dirty="0" spc="-55" b="1">
                <a:latin typeface="Trebuchet MS"/>
                <a:cs typeface="Trebuchet MS"/>
              </a:rPr>
              <a:t>Preserve</a:t>
            </a:r>
            <a:r>
              <a:rPr dirty="0" spc="-5" b="1">
                <a:latin typeface="Trebuchet MS"/>
                <a:cs typeface="Trebuchet MS"/>
              </a:rPr>
              <a:t> </a:t>
            </a:r>
            <a:r>
              <a:rPr dirty="0" spc="-35" b="1">
                <a:latin typeface="Trebuchet MS"/>
                <a:cs typeface="Trebuchet MS"/>
              </a:rPr>
              <a:t>fullinformation</a:t>
            </a:r>
            <a:r>
              <a:rPr dirty="0" spc="-30" b="1">
                <a:latin typeface="Trebuchet MS"/>
                <a:cs typeface="Trebuchet MS"/>
              </a:rPr>
              <a:t> </a:t>
            </a:r>
            <a:r>
              <a:rPr dirty="0" spc="-55"/>
              <a:t>(broaddynamicrange,sensornoise) </a:t>
            </a:r>
            <a:r>
              <a:rPr dirty="0" spc="-75"/>
              <a:t>Train</a:t>
            </a:r>
            <a:r>
              <a:rPr dirty="0" spc="-95"/>
              <a:t> </a:t>
            </a:r>
            <a:r>
              <a:rPr dirty="0" spc="-45"/>
              <a:t>segmentation</a:t>
            </a:r>
            <a:r>
              <a:rPr dirty="0" spc="-90"/>
              <a:t> </a:t>
            </a:r>
            <a:r>
              <a:rPr dirty="0" spc="-30"/>
              <a:t>on</a:t>
            </a:r>
            <a:r>
              <a:rPr dirty="0" spc="-90"/>
              <a:t> </a:t>
            </a:r>
            <a:r>
              <a:rPr dirty="0" spc="-45"/>
              <a:t>RAW</a:t>
            </a:r>
            <a:r>
              <a:rPr dirty="0" spc="-95"/>
              <a:t> </a:t>
            </a:r>
            <a:r>
              <a:rPr dirty="0" spc="-10"/>
              <a:t>representations</a:t>
            </a:r>
          </a:p>
          <a:p>
            <a:pPr marL="320675">
              <a:lnSpc>
                <a:spcPct val="100000"/>
              </a:lnSpc>
              <a:spcBef>
                <a:spcPts val="1120"/>
              </a:spcBef>
            </a:pPr>
            <a:r>
              <a:rPr dirty="0" spc="-70"/>
              <a:t>Better</a:t>
            </a:r>
            <a:r>
              <a:rPr dirty="0" spc="-80"/>
              <a:t> </a:t>
            </a:r>
            <a:r>
              <a:rPr dirty="0" spc="-35"/>
              <a:t>robustness</a:t>
            </a:r>
            <a:r>
              <a:rPr dirty="0" spc="-80"/>
              <a:t> </a:t>
            </a:r>
            <a:r>
              <a:rPr dirty="0" spc="-60"/>
              <a:t>in</a:t>
            </a:r>
            <a:r>
              <a:rPr dirty="0" spc="-80"/>
              <a:t> </a:t>
            </a:r>
            <a:r>
              <a:rPr dirty="0" spc="-65"/>
              <a:t>adverse</a:t>
            </a:r>
            <a:r>
              <a:rPr dirty="0" spc="-80"/>
              <a:t> </a:t>
            </a:r>
            <a:r>
              <a:rPr dirty="0" spc="-10"/>
              <a:t>conditions</a:t>
            </a:r>
          </a:p>
          <a:p>
            <a:pPr>
              <a:lnSpc>
                <a:spcPct val="100000"/>
              </a:lnSpc>
              <a:spcBef>
                <a:spcPts val="3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45"/>
              <a:t>Message:</a:t>
            </a:r>
            <a:r>
              <a:rPr dirty="0" spc="-85"/>
              <a:t> </a:t>
            </a:r>
            <a:r>
              <a:rPr dirty="0"/>
              <a:t>More</a:t>
            </a:r>
            <a:r>
              <a:rPr dirty="0" spc="-85"/>
              <a:t> </a:t>
            </a:r>
            <a:r>
              <a:rPr dirty="0" spc="-55"/>
              <a:t>information</a:t>
            </a:r>
            <a:r>
              <a:rPr dirty="0" spc="-80"/>
              <a:t> </a:t>
            </a:r>
            <a:r>
              <a:rPr dirty="0">
                <a:latin typeface="Times New Roman"/>
                <a:cs typeface="Times New Roman"/>
              </a:rPr>
              <a:t>³</a:t>
            </a:r>
            <a:r>
              <a:rPr dirty="0" spc="-5">
                <a:latin typeface="Times New Roman"/>
                <a:cs typeface="Times New Roman"/>
              </a:rPr>
              <a:t> </a:t>
            </a:r>
            <a:r>
              <a:rPr dirty="0" spc="-35"/>
              <a:t>robust</a:t>
            </a:r>
            <a:r>
              <a:rPr dirty="0" spc="-80"/>
              <a:t> </a:t>
            </a:r>
            <a:r>
              <a:rPr dirty="0" spc="-10"/>
              <a:t>segmentation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662352" y="4930450"/>
            <a:ext cx="9729470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number: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Fatema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Tabassum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(2222904042),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D9D8E8"/>
                </a:solidFill>
                <a:latin typeface="Trebuchet MS"/>
                <a:cs typeface="Trebuchet MS"/>
              </a:rPr>
              <a:t>Amin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Labiba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D9D8E8"/>
                </a:solidFill>
                <a:latin typeface="Trebuchet MS"/>
                <a:cs typeface="Trebuchet MS"/>
              </a:rPr>
              <a:t>Ankon (2222568042)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061940" y="5110732"/>
            <a:ext cx="3368675" cy="1328420"/>
          </a:xfrm>
          <a:custGeom>
            <a:avLst/>
            <a:gdLst/>
            <a:ahLst/>
            <a:cxnLst/>
            <a:rect l="l" t="t" r="r" b="b"/>
            <a:pathLst>
              <a:path w="3368675" h="1328420">
                <a:moveTo>
                  <a:pt x="3368060" y="1328167"/>
                </a:moveTo>
                <a:lnTo>
                  <a:pt x="0" y="1328167"/>
                </a:lnTo>
                <a:lnTo>
                  <a:pt x="35178" y="1296421"/>
                </a:lnTo>
                <a:lnTo>
                  <a:pt x="81855" y="1267217"/>
                </a:lnTo>
                <a:lnTo>
                  <a:pt x="132926" y="1245161"/>
                </a:lnTo>
                <a:lnTo>
                  <a:pt x="186805" y="1228639"/>
                </a:lnTo>
                <a:lnTo>
                  <a:pt x="241904" y="1216034"/>
                </a:lnTo>
                <a:lnTo>
                  <a:pt x="291151" y="1206790"/>
                </a:lnTo>
                <a:lnTo>
                  <a:pt x="340867" y="1198793"/>
                </a:lnTo>
                <a:lnTo>
                  <a:pt x="390978" y="1191862"/>
                </a:lnTo>
                <a:lnTo>
                  <a:pt x="441409" y="1185818"/>
                </a:lnTo>
                <a:lnTo>
                  <a:pt x="492088" y="1180479"/>
                </a:lnTo>
                <a:lnTo>
                  <a:pt x="797183" y="1153196"/>
                </a:lnTo>
                <a:lnTo>
                  <a:pt x="847511" y="1147759"/>
                </a:lnTo>
                <a:lnTo>
                  <a:pt x="897491" y="1141587"/>
                </a:lnTo>
                <a:lnTo>
                  <a:pt x="947050" y="1134501"/>
                </a:lnTo>
                <a:lnTo>
                  <a:pt x="996114" y="1126320"/>
                </a:lnTo>
                <a:lnTo>
                  <a:pt x="1044608" y="1116864"/>
                </a:lnTo>
                <a:lnTo>
                  <a:pt x="1092458" y="1105952"/>
                </a:lnTo>
                <a:lnTo>
                  <a:pt x="1139590" y="1093406"/>
                </a:lnTo>
                <a:lnTo>
                  <a:pt x="1185929" y="1079045"/>
                </a:lnTo>
                <a:lnTo>
                  <a:pt x="1231403" y="1062688"/>
                </a:lnTo>
                <a:lnTo>
                  <a:pt x="1275935" y="1044156"/>
                </a:lnTo>
                <a:lnTo>
                  <a:pt x="1319453" y="1023268"/>
                </a:lnTo>
                <a:lnTo>
                  <a:pt x="1361881" y="999845"/>
                </a:lnTo>
                <a:lnTo>
                  <a:pt x="1403147" y="973706"/>
                </a:lnTo>
                <a:lnTo>
                  <a:pt x="1442616" y="945099"/>
                </a:lnTo>
                <a:lnTo>
                  <a:pt x="1479987" y="914429"/>
                </a:lnTo>
                <a:lnTo>
                  <a:pt x="1515458" y="881892"/>
                </a:lnTo>
                <a:lnTo>
                  <a:pt x="1549227" y="847687"/>
                </a:lnTo>
                <a:lnTo>
                  <a:pt x="1581492" y="812012"/>
                </a:lnTo>
                <a:lnTo>
                  <a:pt x="1612451" y="775066"/>
                </a:lnTo>
                <a:lnTo>
                  <a:pt x="1642303" y="737045"/>
                </a:lnTo>
                <a:lnTo>
                  <a:pt x="1671245" y="698149"/>
                </a:lnTo>
                <a:lnTo>
                  <a:pt x="1699476" y="658575"/>
                </a:lnTo>
                <a:lnTo>
                  <a:pt x="1727194" y="618521"/>
                </a:lnTo>
                <a:lnTo>
                  <a:pt x="1809251" y="497463"/>
                </a:lnTo>
                <a:lnTo>
                  <a:pt x="1836898" y="457472"/>
                </a:lnTo>
                <a:lnTo>
                  <a:pt x="1865024" y="417991"/>
                </a:lnTo>
                <a:lnTo>
                  <a:pt x="1893825" y="379219"/>
                </a:lnTo>
                <a:lnTo>
                  <a:pt x="1923500" y="341354"/>
                </a:lnTo>
                <a:lnTo>
                  <a:pt x="1954247" y="304594"/>
                </a:lnTo>
                <a:lnTo>
                  <a:pt x="1986265" y="269137"/>
                </a:lnTo>
                <a:lnTo>
                  <a:pt x="2019752" y="235181"/>
                </a:lnTo>
                <a:lnTo>
                  <a:pt x="2054905" y="202924"/>
                </a:lnTo>
                <a:lnTo>
                  <a:pt x="2091923" y="172565"/>
                </a:lnTo>
                <a:lnTo>
                  <a:pt x="2131004" y="144301"/>
                </a:lnTo>
                <a:lnTo>
                  <a:pt x="2172347" y="118330"/>
                </a:lnTo>
                <a:lnTo>
                  <a:pt x="2213419" y="96136"/>
                </a:lnTo>
                <a:lnTo>
                  <a:pt x="2255329" y="76744"/>
                </a:lnTo>
                <a:lnTo>
                  <a:pt x="2298031" y="59985"/>
                </a:lnTo>
                <a:lnTo>
                  <a:pt x="2341478" y="45693"/>
                </a:lnTo>
                <a:lnTo>
                  <a:pt x="2385625" y="33699"/>
                </a:lnTo>
                <a:lnTo>
                  <a:pt x="2430425" y="23835"/>
                </a:lnTo>
                <a:lnTo>
                  <a:pt x="2475832" y="15934"/>
                </a:lnTo>
                <a:lnTo>
                  <a:pt x="2521799" y="9829"/>
                </a:lnTo>
                <a:lnTo>
                  <a:pt x="2568279" y="5350"/>
                </a:lnTo>
                <a:lnTo>
                  <a:pt x="2615228" y="2331"/>
                </a:lnTo>
                <a:lnTo>
                  <a:pt x="2662597" y="603"/>
                </a:lnTo>
                <a:lnTo>
                  <a:pt x="2710341" y="0"/>
                </a:lnTo>
                <a:lnTo>
                  <a:pt x="2758414" y="352"/>
                </a:lnTo>
                <a:lnTo>
                  <a:pt x="2806769" y="1492"/>
                </a:lnTo>
                <a:lnTo>
                  <a:pt x="2901558" y="5350"/>
                </a:lnTo>
                <a:lnTo>
                  <a:pt x="2901845" y="5350"/>
                </a:lnTo>
                <a:lnTo>
                  <a:pt x="3100229" y="15493"/>
                </a:lnTo>
                <a:lnTo>
                  <a:pt x="3149262" y="17454"/>
                </a:lnTo>
                <a:lnTo>
                  <a:pt x="3198206" y="18860"/>
                </a:lnTo>
                <a:lnTo>
                  <a:pt x="3247015" y="19545"/>
                </a:lnTo>
                <a:lnTo>
                  <a:pt x="3368060" y="19545"/>
                </a:lnTo>
                <a:lnTo>
                  <a:pt x="3368060" y="1328167"/>
                </a:lnTo>
                <a:close/>
              </a:path>
              <a:path w="3368675" h="1328420">
                <a:moveTo>
                  <a:pt x="3368060" y="19545"/>
                </a:moveTo>
                <a:lnTo>
                  <a:pt x="3247015" y="19545"/>
                </a:lnTo>
                <a:lnTo>
                  <a:pt x="3295642" y="19340"/>
                </a:lnTo>
                <a:lnTo>
                  <a:pt x="3344042" y="18078"/>
                </a:lnTo>
                <a:lnTo>
                  <a:pt x="3368060" y="16836"/>
                </a:lnTo>
                <a:lnTo>
                  <a:pt x="3368060" y="19545"/>
                </a:lnTo>
                <a:close/>
              </a:path>
            </a:pathLst>
          </a:custGeom>
          <a:solidFill>
            <a:srgbClr val="0A0C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412" y="257"/>
            <a:ext cx="4284047" cy="643808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76242" y="4628930"/>
            <a:ext cx="5791200" cy="9525"/>
          </a:xfrm>
          <a:custGeom>
            <a:avLst/>
            <a:gdLst/>
            <a:ahLst/>
            <a:cxnLst/>
            <a:rect l="l" t="t" r="r" b="b"/>
            <a:pathLst>
              <a:path w="5791200" h="9525">
                <a:moveTo>
                  <a:pt x="5790925" y="9524"/>
                </a:moveTo>
                <a:lnTo>
                  <a:pt x="0" y="9524"/>
                </a:lnTo>
                <a:lnTo>
                  <a:pt x="0" y="0"/>
                </a:lnTo>
                <a:lnTo>
                  <a:pt x="5790925" y="0"/>
                </a:lnTo>
                <a:lnTo>
                  <a:pt x="5790925" y="9524"/>
                </a:lnTo>
                <a:close/>
              </a:path>
            </a:pathLst>
          </a:custGeom>
          <a:solidFill>
            <a:srgbClr val="D9D8E8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292" y="2504956"/>
            <a:ext cx="76196" cy="761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292" y="2876413"/>
            <a:ext cx="76196" cy="761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292" y="3257396"/>
            <a:ext cx="76196" cy="76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292" y="3628853"/>
            <a:ext cx="76196" cy="7619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8888794" y="5310520"/>
            <a:ext cx="2541270" cy="1128395"/>
            <a:chOff x="8888794" y="5310520"/>
            <a:chExt cx="2541270" cy="1128395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9791" y="5925793"/>
              <a:ext cx="1754422" cy="41907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888794" y="5310520"/>
              <a:ext cx="2541270" cy="1128395"/>
            </a:xfrm>
            <a:custGeom>
              <a:avLst/>
              <a:gdLst/>
              <a:ahLst/>
              <a:cxnLst/>
              <a:rect l="l" t="t" r="r" b="b"/>
              <a:pathLst>
                <a:path w="2541270" h="1128395">
                  <a:moveTo>
                    <a:pt x="2541205" y="37546"/>
                  </a:moveTo>
                  <a:lnTo>
                    <a:pt x="2173964" y="37546"/>
                  </a:lnTo>
                  <a:lnTo>
                    <a:pt x="2222592" y="37341"/>
                  </a:lnTo>
                  <a:lnTo>
                    <a:pt x="2270992" y="36079"/>
                  </a:lnTo>
                  <a:lnTo>
                    <a:pt x="2320990" y="33494"/>
                  </a:lnTo>
                  <a:lnTo>
                    <a:pt x="2320310" y="33494"/>
                  </a:lnTo>
                  <a:lnTo>
                    <a:pt x="2366923" y="29711"/>
                  </a:lnTo>
                  <a:lnTo>
                    <a:pt x="2414362" y="24270"/>
                  </a:lnTo>
                  <a:lnTo>
                    <a:pt x="2461388" y="17100"/>
                  </a:lnTo>
                  <a:lnTo>
                    <a:pt x="2507955" y="8034"/>
                  </a:lnTo>
                  <a:lnTo>
                    <a:pt x="2541205" y="0"/>
                  </a:lnTo>
                  <a:lnTo>
                    <a:pt x="2541205" y="37546"/>
                  </a:lnTo>
                  <a:close/>
                </a:path>
                <a:path w="2541270" h="1128395">
                  <a:moveTo>
                    <a:pt x="2541205" y="1128379"/>
                  </a:moveTo>
                  <a:lnTo>
                    <a:pt x="0" y="1128379"/>
                  </a:lnTo>
                  <a:lnTo>
                    <a:pt x="19407" y="1123953"/>
                  </a:lnTo>
                  <a:lnTo>
                    <a:pt x="66539" y="1111407"/>
                  </a:lnTo>
                  <a:lnTo>
                    <a:pt x="112879" y="1097046"/>
                  </a:lnTo>
                  <a:lnTo>
                    <a:pt x="158352" y="1080689"/>
                  </a:lnTo>
                  <a:lnTo>
                    <a:pt x="202885" y="1062157"/>
                  </a:lnTo>
                  <a:lnTo>
                    <a:pt x="246402" y="1041269"/>
                  </a:lnTo>
                  <a:lnTo>
                    <a:pt x="288831" y="1017846"/>
                  </a:lnTo>
                  <a:lnTo>
                    <a:pt x="330096" y="991707"/>
                  </a:lnTo>
                  <a:lnTo>
                    <a:pt x="369566" y="963100"/>
                  </a:lnTo>
                  <a:lnTo>
                    <a:pt x="406937" y="932430"/>
                  </a:lnTo>
                  <a:lnTo>
                    <a:pt x="442408" y="899893"/>
                  </a:lnTo>
                  <a:lnTo>
                    <a:pt x="476177" y="865688"/>
                  </a:lnTo>
                  <a:lnTo>
                    <a:pt x="508442" y="830013"/>
                  </a:lnTo>
                  <a:lnTo>
                    <a:pt x="539401" y="793067"/>
                  </a:lnTo>
                  <a:lnTo>
                    <a:pt x="569252" y="755046"/>
                  </a:lnTo>
                  <a:lnTo>
                    <a:pt x="598195" y="716150"/>
                  </a:lnTo>
                  <a:lnTo>
                    <a:pt x="626426" y="676576"/>
                  </a:lnTo>
                  <a:lnTo>
                    <a:pt x="654144" y="636522"/>
                  </a:lnTo>
                  <a:lnTo>
                    <a:pt x="736201" y="515464"/>
                  </a:lnTo>
                  <a:lnTo>
                    <a:pt x="763848" y="475472"/>
                  </a:lnTo>
                  <a:lnTo>
                    <a:pt x="791973" y="435992"/>
                  </a:lnTo>
                  <a:lnTo>
                    <a:pt x="820774" y="397220"/>
                  </a:lnTo>
                  <a:lnTo>
                    <a:pt x="850449" y="359355"/>
                  </a:lnTo>
                  <a:lnTo>
                    <a:pt x="881197" y="322595"/>
                  </a:lnTo>
                  <a:lnTo>
                    <a:pt x="913215" y="287138"/>
                  </a:lnTo>
                  <a:lnTo>
                    <a:pt x="946701" y="253182"/>
                  </a:lnTo>
                  <a:lnTo>
                    <a:pt x="981854" y="220925"/>
                  </a:lnTo>
                  <a:lnTo>
                    <a:pt x="1018873" y="190566"/>
                  </a:lnTo>
                  <a:lnTo>
                    <a:pt x="1057954" y="162302"/>
                  </a:lnTo>
                  <a:lnTo>
                    <a:pt x="1099296" y="136331"/>
                  </a:lnTo>
                  <a:lnTo>
                    <a:pt x="1140368" y="114137"/>
                  </a:lnTo>
                  <a:lnTo>
                    <a:pt x="1182278" y="94745"/>
                  </a:lnTo>
                  <a:lnTo>
                    <a:pt x="1224980" y="77986"/>
                  </a:lnTo>
                  <a:lnTo>
                    <a:pt x="1268428" y="63694"/>
                  </a:lnTo>
                  <a:lnTo>
                    <a:pt x="1312575" y="51700"/>
                  </a:lnTo>
                  <a:lnTo>
                    <a:pt x="1357375" y="41836"/>
                  </a:lnTo>
                  <a:lnTo>
                    <a:pt x="1402781" y="33935"/>
                  </a:lnTo>
                  <a:lnTo>
                    <a:pt x="1448748" y="27830"/>
                  </a:lnTo>
                  <a:lnTo>
                    <a:pt x="1495229" y="23351"/>
                  </a:lnTo>
                  <a:lnTo>
                    <a:pt x="1542177" y="20332"/>
                  </a:lnTo>
                  <a:lnTo>
                    <a:pt x="1589547" y="18604"/>
                  </a:lnTo>
                  <a:lnTo>
                    <a:pt x="1637291" y="18000"/>
                  </a:lnTo>
                  <a:lnTo>
                    <a:pt x="1685364" y="18353"/>
                  </a:lnTo>
                  <a:lnTo>
                    <a:pt x="1733719" y="19493"/>
                  </a:lnTo>
                  <a:lnTo>
                    <a:pt x="1828507" y="23351"/>
                  </a:lnTo>
                  <a:lnTo>
                    <a:pt x="1828795" y="23351"/>
                  </a:lnTo>
                  <a:lnTo>
                    <a:pt x="2027179" y="33494"/>
                  </a:lnTo>
                  <a:lnTo>
                    <a:pt x="2076211" y="35455"/>
                  </a:lnTo>
                  <a:lnTo>
                    <a:pt x="2125155" y="36861"/>
                  </a:lnTo>
                  <a:lnTo>
                    <a:pt x="2173964" y="37546"/>
                  </a:lnTo>
                  <a:lnTo>
                    <a:pt x="2541205" y="37546"/>
                  </a:lnTo>
                  <a:lnTo>
                    <a:pt x="2541205" y="1128379"/>
                  </a:lnTo>
                  <a:close/>
                </a:path>
              </a:pathLst>
            </a:custGeom>
            <a:solidFill>
              <a:srgbClr val="0A0C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20"/>
              </a:spcBef>
            </a:pPr>
            <a:r>
              <a:rPr dirty="0" spc="150"/>
              <a:t>Challenge:</a:t>
            </a:r>
            <a:r>
              <a:rPr dirty="0" spc="175"/>
              <a:t> </a:t>
            </a:r>
            <a:r>
              <a:rPr dirty="0" spc="190"/>
              <a:t>Missing </a:t>
            </a:r>
            <a:r>
              <a:rPr dirty="0" spc="235"/>
              <a:t>Annotations</a:t>
            </a:r>
            <a:r>
              <a:rPr dirty="0" spc="175"/>
              <a:t> </a:t>
            </a:r>
            <a:r>
              <a:rPr dirty="0" spc="150"/>
              <a:t>in</a:t>
            </a:r>
            <a:r>
              <a:rPr dirty="0" spc="175"/>
              <a:t> </a:t>
            </a:r>
            <a:r>
              <a:rPr dirty="0" spc="275"/>
              <a:t>RAW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662352" y="2249873"/>
            <a:ext cx="4491355" cy="204978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320675">
              <a:lnSpc>
                <a:spcPct val="100000"/>
              </a:lnSpc>
              <a:spcBef>
                <a:spcPts val="1185"/>
              </a:spcBef>
            </a:pP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Limited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D9D8E8"/>
                </a:solidFill>
                <a:latin typeface="Trebuchet MS"/>
                <a:cs typeface="Trebuchet MS"/>
              </a:rPr>
              <a:t>pixel-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levelannoted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RAWdatasets</a:t>
            </a:r>
            <a:endParaRPr sz="1500">
              <a:latin typeface="Trebuchet MS"/>
              <a:cs typeface="Trebuchet MS"/>
            </a:endParaRPr>
          </a:p>
          <a:p>
            <a:pPr marL="320675" marR="5080">
              <a:lnSpc>
                <a:spcPts val="2920"/>
              </a:lnSpc>
              <a:spcBef>
                <a:spcPts val="250"/>
              </a:spcBef>
            </a:pPr>
            <a:r>
              <a:rPr dirty="0" sz="1500" spc="-30">
                <a:solidFill>
                  <a:srgbClr val="D9D8E8"/>
                </a:solidFill>
                <a:latin typeface="Trebuchet MS"/>
                <a:cs typeface="Trebuchet MS"/>
              </a:rPr>
              <a:t>Some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bounding-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box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labels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of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RAW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data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was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available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Manual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pixel 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labeling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is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9D8E8"/>
                </a:solidFill>
                <a:latin typeface="Trebuchet MS"/>
                <a:cs typeface="Trebuchet MS"/>
              </a:rPr>
              <a:t>not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scalable</a:t>
            </a:r>
            <a:endParaRPr sz="1500">
              <a:latin typeface="Trebuchet MS"/>
              <a:cs typeface="Trebuchet MS"/>
            </a:endParaRPr>
          </a:p>
          <a:p>
            <a:pPr marL="320675">
              <a:lnSpc>
                <a:spcPct val="100000"/>
              </a:lnSpc>
              <a:spcBef>
                <a:spcPts val="844"/>
              </a:spcBef>
            </a:pP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Label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gap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blocks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supervised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training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Message: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Lack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of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labels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is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the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main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barrier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2352" y="4816156"/>
            <a:ext cx="5493385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 number: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Fatema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Tabassum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(2222904042),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D9D8E8"/>
                </a:solidFill>
                <a:latin typeface="Trebuchet MS"/>
                <a:cs typeface="Trebuchet MS"/>
              </a:rPr>
              <a:t>Amin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Labiba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D9D8E8"/>
                </a:solidFill>
                <a:latin typeface="Trebuchet MS"/>
                <a:cs typeface="Trebuchet MS"/>
              </a:rPr>
              <a:t>Ankon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D9D8E8"/>
                </a:solidFill>
                <a:latin typeface="Trebuchet MS"/>
                <a:cs typeface="Trebuchet MS"/>
              </a:rPr>
              <a:t>(2222568042)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658350" cy="6438900"/>
          </a:xfrm>
          <a:custGeom>
            <a:avLst/>
            <a:gdLst/>
            <a:ahLst/>
            <a:cxnLst/>
            <a:rect l="l" t="t" r="r" b="b"/>
            <a:pathLst>
              <a:path w="9658350" h="6438900">
                <a:moveTo>
                  <a:pt x="965835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9658350" y="0"/>
                </a:lnTo>
                <a:lnTo>
                  <a:pt x="9658350" y="6438900"/>
                </a:lnTo>
                <a:close/>
              </a:path>
            </a:pathLst>
          </a:custGeom>
          <a:solidFill>
            <a:srgbClr val="0A0C23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5521" y="1070467"/>
            <a:ext cx="4490377" cy="10624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792" y="2884087"/>
            <a:ext cx="2108739" cy="227776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0920" y="2884087"/>
            <a:ext cx="2108739" cy="227776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6000" y="2884087"/>
            <a:ext cx="2116787" cy="227776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71452" y="5336238"/>
            <a:ext cx="8515985" cy="8255"/>
          </a:xfrm>
          <a:custGeom>
            <a:avLst/>
            <a:gdLst/>
            <a:ahLst/>
            <a:cxnLst/>
            <a:rect l="l" t="t" r="r" b="b"/>
            <a:pathLst>
              <a:path w="8515985" h="8254">
                <a:moveTo>
                  <a:pt x="8515444" y="8048"/>
                </a:moveTo>
                <a:lnTo>
                  <a:pt x="0" y="8048"/>
                </a:lnTo>
                <a:lnTo>
                  <a:pt x="0" y="0"/>
                </a:lnTo>
                <a:lnTo>
                  <a:pt x="8515444" y="0"/>
                </a:lnTo>
                <a:lnTo>
                  <a:pt x="8515444" y="8048"/>
                </a:lnTo>
                <a:close/>
              </a:path>
            </a:pathLst>
          </a:custGeom>
          <a:solidFill>
            <a:srgbClr val="D9D8E8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29129" y="2884087"/>
            <a:ext cx="2108739" cy="227776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95306" y="6004274"/>
            <a:ext cx="1482556" cy="35413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57746" y="546800"/>
            <a:ext cx="3006090" cy="902969"/>
          </a:xfrm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5"/>
              </a:spcBef>
            </a:pPr>
            <a:r>
              <a:rPr dirty="0" sz="2850" spc="200"/>
              <a:t>Pseudo-</a:t>
            </a:r>
            <a:r>
              <a:rPr dirty="0" sz="2850" spc="165"/>
              <a:t>Labeling Strategy</a:t>
            </a:r>
            <a:endParaRPr sz="2850"/>
          </a:p>
        </p:txBody>
      </p:sp>
      <p:sp>
        <p:nvSpPr>
          <p:cNvPr id="11" name="object 11" descr=""/>
          <p:cNvSpPr txBox="1"/>
          <p:nvPr/>
        </p:nvSpPr>
        <p:spPr>
          <a:xfrm>
            <a:off x="2621148" y="1627094"/>
            <a:ext cx="7366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D9D8E8"/>
                </a:solidFill>
                <a:latin typeface="Times New Roman"/>
                <a:cs typeface="Times New Roman"/>
              </a:rPr>
              <a:t>³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4876" y="4069896"/>
            <a:ext cx="958850" cy="774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90"/>
              </a:spcBef>
            </a:pPr>
            <a:r>
              <a:rPr dirty="0" sz="1250" spc="-35">
                <a:solidFill>
                  <a:srgbClr val="D9D8E8"/>
                </a:solidFill>
                <a:latin typeface="Trebuchet MS"/>
                <a:cs typeface="Trebuchet MS"/>
              </a:rPr>
              <a:t>High-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quality </a:t>
            </a:r>
            <a:r>
              <a:rPr dirty="0" sz="1250" spc="-35">
                <a:solidFill>
                  <a:srgbClr val="D9D8E8"/>
                </a:solidFill>
                <a:latin typeface="Trebuchet MS"/>
                <a:cs typeface="Trebuchet MS"/>
              </a:rPr>
              <a:t>segmentation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predictions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2346" y="1667563"/>
            <a:ext cx="334327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2299335" algn="l"/>
                <a:tab pos="2950210" algn="l"/>
              </a:tabLst>
            </a:pPr>
            <a:r>
              <a:rPr dirty="0" sz="1250" spc="-40" b="1">
                <a:solidFill>
                  <a:srgbClr val="D9D8E8"/>
                </a:solidFill>
                <a:latin typeface="Trebuchet MS"/>
                <a:cs typeface="Trebuchet MS"/>
              </a:rPr>
              <a:t>Flow:</a:t>
            </a:r>
            <a:r>
              <a:rPr dirty="0" sz="1250" spc="-40">
                <a:solidFill>
                  <a:srgbClr val="D9D8E8"/>
                </a:solidFill>
                <a:latin typeface="Trebuchet MS"/>
                <a:cs typeface="Trebuchet MS"/>
              </a:rPr>
              <a:t>BrightImage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D9D8E8"/>
                </a:solidFill>
                <a:latin typeface="Times New Roman"/>
                <a:cs typeface="Times New Roman"/>
              </a:rPr>
              <a:t>³</a:t>
            </a:r>
            <a:r>
              <a:rPr dirty="0" sz="1250" spc="10">
                <a:solidFill>
                  <a:srgbClr val="D9D8E8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Teacher</a:t>
            </a:r>
            <a:r>
              <a:rPr dirty="0" sz="1250">
                <a:solidFill>
                  <a:srgbClr val="D9D8E8"/>
                </a:solidFill>
                <a:latin typeface="Trebuchet MS"/>
                <a:cs typeface="Trebuchet MS"/>
              </a:rPr>
              <a:t>	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Labels </a:t>
            </a:r>
            <a:r>
              <a:rPr dirty="0" baseline="13333" sz="1875" spc="-75">
                <a:solidFill>
                  <a:srgbClr val="D9D8E8"/>
                </a:solidFill>
                <a:latin typeface="Times New Roman"/>
                <a:cs typeface="Times New Roman"/>
              </a:rPr>
              <a:t>³</a:t>
            </a:r>
            <a:r>
              <a:rPr dirty="0" baseline="13333" sz="1875">
                <a:solidFill>
                  <a:srgbClr val="D9D8E8"/>
                </a:solidFill>
                <a:latin typeface="Times New Roman"/>
                <a:cs typeface="Times New Roman"/>
              </a:rPr>
              <a:t>	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Train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7738" y="1924012"/>
            <a:ext cx="3397250" cy="6235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D9D8E8"/>
                </a:solidFill>
                <a:latin typeface="Trebuchet MS"/>
                <a:cs typeface="Trebuchet MS"/>
              </a:rPr>
              <a:t>teachermodel</a:t>
            </a:r>
            <a:r>
              <a:rPr dirty="0" sz="1250" spc="-6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D9D8E8"/>
                </a:solidFill>
                <a:latin typeface="Times New Roman"/>
                <a:cs typeface="Times New Roman"/>
              </a:rPr>
              <a:t>³</a:t>
            </a:r>
            <a:r>
              <a:rPr dirty="0" sz="1250" spc="10">
                <a:solidFill>
                  <a:srgbClr val="D9D8E8"/>
                </a:solidFill>
                <a:latin typeface="Times New Roman"/>
                <a:cs typeface="Times New Roman"/>
              </a:rPr>
              <a:t> </a:t>
            </a:r>
            <a:r>
              <a:rPr dirty="0" sz="1250" spc="-60">
                <a:solidFill>
                  <a:srgbClr val="D9D8E8"/>
                </a:solidFill>
                <a:latin typeface="Trebuchet MS"/>
                <a:cs typeface="Trebuchet MS"/>
              </a:rPr>
              <a:t>Train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RAWModel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50" spc="-30">
                <a:solidFill>
                  <a:srgbClr val="D9D8E8"/>
                </a:solidFill>
                <a:latin typeface="Trebuchet MS"/>
                <a:cs typeface="Trebuchet MS"/>
              </a:rPr>
              <a:t>Message: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60">
                <a:solidFill>
                  <a:srgbClr val="D9D8E8"/>
                </a:solidFill>
                <a:latin typeface="Trebuchet MS"/>
                <a:cs typeface="Trebuchet MS"/>
              </a:rPr>
              <a:t>Create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labels</a:t>
            </a:r>
            <a:r>
              <a:rPr dirty="0" sz="125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D9D8E8"/>
                </a:solidFill>
                <a:latin typeface="Trebuchet MS"/>
                <a:cs typeface="Trebuchet MS"/>
              </a:rPr>
              <a:t>without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D9D8E8"/>
                </a:solidFill>
                <a:latin typeface="Trebuchet MS"/>
                <a:cs typeface="Trebuchet MS"/>
              </a:rPr>
              <a:t>manual</a:t>
            </a:r>
            <a:r>
              <a:rPr dirty="0" sz="125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D9D8E8"/>
                </a:solidFill>
                <a:latin typeface="Trebuchet MS"/>
                <a:cs typeface="Trebuchet MS"/>
              </a:rPr>
              <a:t>annotation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914995" y="4069896"/>
            <a:ext cx="1487170" cy="5245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90"/>
              </a:spcBef>
            </a:pPr>
            <a:r>
              <a:rPr dirty="0" sz="1250" spc="-70">
                <a:solidFill>
                  <a:srgbClr val="D9D8E8"/>
                </a:solidFill>
                <a:latin typeface="Trebuchet MS"/>
                <a:cs typeface="Trebuchet MS"/>
              </a:rPr>
              <a:t>Per-</a:t>
            </a:r>
            <a:r>
              <a:rPr dirty="0" sz="1250" spc="-35">
                <a:solidFill>
                  <a:srgbClr val="D9D8E8"/>
                </a:solidFill>
                <a:latin typeface="Trebuchet MS"/>
                <a:cs typeface="Trebuchet MS"/>
              </a:rPr>
              <a:t>image</a:t>
            </a:r>
            <a:r>
              <a:rPr dirty="0" sz="125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labels</a:t>
            </a:r>
            <a:r>
              <a:rPr dirty="0" sz="125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D9D8E8"/>
                </a:solidFill>
                <a:latin typeface="Trebuchet MS"/>
                <a:cs typeface="Trebuchet MS"/>
              </a:rPr>
              <a:t>from 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teacher</a:t>
            </a:r>
            <a:r>
              <a:rPr dirty="0" sz="1250" spc="-4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outputs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85097" y="4069896"/>
            <a:ext cx="1463675" cy="5245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90"/>
              </a:spcBef>
            </a:pPr>
            <a:r>
              <a:rPr dirty="0" sz="1250" spc="-30">
                <a:solidFill>
                  <a:srgbClr val="D9D8E8"/>
                </a:solidFill>
                <a:latin typeface="Trebuchet MS"/>
                <a:cs typeface="Trebuchet MS"/>
              </a:rPr>
              <a:t>Align</a:t>
            </a:r>
            <a:r>
              <a:rPr dirty="0" sz="125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labels</a:t>
            </a:r>
            <a:r>
              <a:rPr dirty="0" sz="125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D9D8E8"/>
                </a:solidFill>
                <a:latin typeface="Trebuchet MS"/>
                <a:cs typeface="Trebuchet MS"/>
              </a:rPr>
              <a:t>with</a:t>
            </a:r>
            <a:r>
              <a:rPr dirty="0" sz="1250" spc="-6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D9D8E8"/>
                </a:solidFill>
                <a:latin typeface="Trebuchet MS"/>
                <a:cs typeface="Trebuchet MS"/>
              </a:rPr>
              <a:t>RAW sensor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frames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255208" y="4069896"/>
            <a:ext cx="1362075" cy="5245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90"/>
              </a:spcBef>
            </a:pPr>
            <a:r>
              <a:rPr dirty="0" sz="1250" spc="-35">
                <a:solidFill>
                  <a:srgbClr val="D9D8E8"/>
                </a:solidFill>
                <a:latin typeface="Trebuchet MS"/>
                <a:cs typeface="Trebuchet MS"/>
              </a:rPr>
              <a:t>Student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D9D8E8"/>
                </a:solidFill>
                <a:latin typeface="Trebuchet MS"/>
                <a:cs typeface="Trebuchet MS"/>
              </a:rPr>
              <a:t>learns</a:t>
            </a:r>
            <a:r>
              <a:rPr dirty="0" sz="125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15">
                <a:solidFill>
                  <a:srgbClr val="D9D8E8"/>
                </a:solidFill>
                <a:latin typeface="Trebuchet MS"/>
                <a:cs typeface="Trebuchet MS"/>
              </a:rPr>
              <a:t>from </a:t>
            </a:r>
            <a:r>
              <a:rPr dirty="0" sz="1250" spc="-30">
                <a:solidFill>
                  <a:srgbClr val="D9D8E8"/>
                </a:solidFill>
                <a:latin typeface="Trebuchet MS"/>
                <a:cs typeface="Trebuchet MS"/>
              </a:rPr>
              <a:t>pseudo</a:t>
            </a:r>
            <a:r>
              <a:rPr dirty="0" sz="125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supervision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24587" y="3011192"/>
            <a:ext cx="99060" cy="260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-335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674076" y="3011192"/>
            <a:ext cx="140335" cy="260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44694" y="3011192"/>
            <a:ext cx="139065" cy="260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012028" y="3011192"/>
            <a:ext cx="144780" cy="260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35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44876" y="3548832"/>
            <a:ext cx="1198880" cy="46863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30"/>
              </a:spcBef>
            </a:pPr>
            <a:r>
              <a:rPr dirty="0" sz="1400" spc="-210">
                <a:solidFill>
                  <a:srgbClr val="D9D8E8"/>
                </a:solidFill>
                <a:latin typeface="Tahoma"/>
                <a:cs typeface="Tahoma"/>
              </a:rPr>
              <a:t>1.</a:t>
            </a:r>
            <a:r>
              <a:rPr dirty="0" sz="1400" spc="9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90">
                <a:solidFill>
                  <a:srgbClr val="D9D8E8"/>
                </a:solidFill>
                <a:latin typeface="Tahoma"/>
                <a:cs typeface="Tahoma"/>
              </a:rPr>
              <a:t>Teacher</a:t>
            </a:r>
            <a:r>
              <a:rPr dirty="0" sz="1400" spc="100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95">
                <a:solidFill>
                  <a:srgbClr val="D9D8E8"/>
                </a:solidFill>
                <a:latin typeface="Tahoma"/>
                <a:cs typeface="Tahoma"/>
              </a:rPr>
              <a:t>on </a:t>
            </a:r>
            <a:r>
              <a:rPr dirty="0" sz="1400" spc="105">
                <a:solidFill>
                  <a:srgbClr val="D9D8E8"/>
                </a:solidFill>
                <a:latin typeface="Tahoma"/>
                <a:cs typeface="Tahoma"/>
              </a:rPr>
              <a:t>bright</a:t>
            </a:r>
            <a:r>
              <a:rPr dirty="0" sz="1400" spc="9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D9D8E8"/>
                </a:solidFill>
                <a:latin typeface="Tahoma"/>
                <a:cs typeface="Tahoma"/>
              </a:rPr>
              <a:t>RGB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914995" y="3548832"/>
            <a:ext cx="1273810" cy="46863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30"/>
              </a:spcBef>
            </a:pPr>
            <a:r>
              <a:rPr dirty="0" sz="1400">
                <a:solidFill>
                  <a:srgbClr val="D9D8E8"/>
                </a:solidFill>
                <a:latin typeface="Tahoma"/>
                <a:cs typeface="Tahoma"/>
              </a:rPr>
              <a:t>2.</a:t>
            </a:r>
            <a:r>
              <a:rPr dirty="0" sz="1400" spc="-2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D9D8E8"/>
                </a:solidFill>
                <a:latin typeface="Tahoma"/>
                <a:cs typeface="Tahoma"/>
              </a:rPr>
              <a:t>Generate </a:t>
            </a:r>
            <a:r>
              <a:rPr dirty="0" sz="1400" spc="130">
                <a:solidFill>
                  <a:srgbClr val="D9D8E8"/>
                </a:solidFill>
                <a:latin typeface="Tahoma"/>
                <a:cs typeface="Tahoma"/>
              </a:rPr>
              <a:t>pseudo</a:t>
            </a:r>
            <a:r>
              <a:rPr dirty="0" sz="1400" spc="8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D9D8E8"/>
                </a:solidFill>
                <a:latin typeface="Tahoma"/>
                <a:cs typeface="Tahoma"/>
              </a:rPr>
              <a:t>labels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085097" y="3546861"/>
            <a:ext cx="1216025" cy="460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95"/>
              </a:spcBef>
            </a:pPr>
            <a:r>
              <a:rPr dirty="0" sz="1400">
                <a:solidFill>
                  <a:srgbClr val="D9D8E8"/>
                </a:solidFill>
                <a:latin typeface="Tahoma"/>
                <a:cs typeface="Tahoma"/>
              </a:rPr>
              <a:t>3.</a:t>
            </a:r>
            <a:r>
              <a:rPr dirty="0" sz="1400" spc="3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D9D8E8"/>
                </a:solidFill>
                <a:latin typeface="Tahoma"/>
                <a:cs typeface="Tahoma"/>
              </a:rPr>
              <a:t>Transfer</a:t>
            </a:r>
            <a:r>
              <a:rPr dirty="0" sz="1400" spc="40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95">
                <a:solidFill>
                  <a:srgbClr val="D9D8E8"/>
                </a:solidFill>
                <a:latin typeface="Tahoma"/>
                <a:cs typeface="Tahoma"/>
              </a:rPr>
              <a:t>to </a:t>
            </a:r>
            <a:r>
              <a:rPr dirty="0" sz="1400" spc="114">
                <a:solidFill>
                  <a:srgbClr val="D9D8E8"/>
                </a:solidFill>
                <a:latin typeface="Tahoma"/>
                <a:cs typeface="Tahoma"/>
              </a:rPr>
              <a:t>RAW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255208" y="3546861"/>
            <a:ext cx="1175385" cy="460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95"/>
              </a:spcBef>
            </a:pPr>
            <a:r>
              <a:rPr dirty="0" sz="1400">
                <a:solidFill>
                  <a:srgbClr val="D9D8E8"/>
                </a:solidFill>
                <a:latin typeface="Tahoma"/>
                <a:cs typeface="Tahoma"/>
              </a:rPr>
              <a:t>4.</a:t>
            </a:r>
            <a:r>
              <a:rPr dirty="0" sz="1400" spc="40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D9D8E8"/>
                </a:solidFill>
                <a:latin typeface="Tahoma"/>
                <a:cs typeface="Tahoma"/>
              </a:rPr>
              <a:t>Train</a:t>
            </a:r>
            <a:r>
              <a:rPr dirty="0" sz="1400" spc="4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114">
                <a:solidFill>
                  <a:srgbClr val="D9D8E8"/>
                </a:solidFill>
                <a:latin typeface="Tahoma"/>
                <a:cs typeface="Tahoma"/>
              </a:rPr>
              <a:t>RAW </a:t>
            </a:r>
            <a:r>
              <a:rPr dirty="0" sz="1400" spc="95">
                <a:solidFill>
                  <a:srgbClr val="D9D8E8"/>
                </a:solidFill>
                <a:latin typeface="Tahoma"/>
                <a:cs typeface="Tahoma"/>
              </a:rPr>
              <a:t>student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57746" y="5492482"/>
            <a:ext cx="822579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300"/>
              </a:lnSpc>
              <a:spcBef>
                <a:spcPts val="95"/>
              </a:spcBef>
            </a:pPr>
            <a:r>
              <a:rPr dirty="0" sz="1000" spc="-35">
                <a:solidFill>
                  <a:srgbClr val="D9D8E8"/>
                </a:solidFill>
                <a:latin typeface="Trebuchet MS"/>
                <a:cs typeface="Trebuchet MS"/>
              </a:rPr>
              <a:t>Group </a:t>
            </a:r>
            <a:r>
              <a:rPr dirty="0" sz="1000" spc="-50">
                <a:solidFill>
                  <a:srgbClr val="D9D8E8"/>
                </a:solidFill>
                <a:latin typeface="Trebuchet MS"/>
                <a:cs typeface="Trebuchet MS"/>
              </a:rPr>
              <a:t>number: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180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3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45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45">
                <a:solidFill>
                  <a:srgbClr val="D9D8E8"/>
                </a:solidFill>
                <a:latin typeface="Trebuchet MS"/>
                <a:cs typeface="Trebuchet MS"/>
              </a:rPr>
              <a:t>Fatema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Tabassum </a:t>
            </a:r>
            <a:r>
              <a:rPr dirty="0" sz="1000" spc="-45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35">
                <a:solidFill>
                  <a:srgbClr val="D9D8E8"/>
                </a:solidFill>
                <a:latin typeface="Trebuchet MS"/>
                <a:cs typeface="Trebuchet MS"/>
              </a:rPr>
              <a:t>(2222904042),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40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D9D8E8"/>
                </a:solidFill>
                <a:latin typeface="Trebuchet MS"/>
                <a:cs typeface="Trebuchet MS"/>
              </a:rPr>
              <a:t>Amin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6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D9D8E8"/>
                </a:solidFill>
                <a:latin typeface="Trebuchet MS"/>
                <a:cs typeface="Trebuchet MS"/>
              </a:rPr>
              <a:t>Labiba</a:t>
            </a:r>
            <a:r>
              <a:rPr dirty="0" sz="1000" spc="-3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6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35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55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35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00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D9D8E8"/>
                </a:solidFill>
                <a:latin typeface="Trebuchet MS"/>
                <a:cs typeface="Trebuchet MS"/>
              </a:rPr>
              <a:t>Ankon (2222568042)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7132958" y="4997445"/>
            <a:ext cx="2525395" cy="1441450"/>
          </a:xfrm>
          <a:custGeom>
            <a:avLst/>
            <a:gdLst/>
            <a:ahLst/>
            <a:cxnLst/>
            <a:rect l="l" t="t" r="r" b="b"/>
            <a:pathLst>
              <a:path w="2525395" h="1441450">
                <a:moveTo>
                  <a:pt x="2525391" y="899299"/>
                </a:moveTo>
                <a:lnTo>
                  <a:pt x="1338228" y="899299"/>
                </a:lnTo>
                <a:lnTo>
                  <a:pt x="1386752" y="898261"/>
                </a:lnTo>
                <a:lnTo>
                  <a:pt x="1434956" y="895791"/>
                </a:lnTo>
                <a:lnTo>
                  <a:pt x="1482776" y="891653"/>
                </a:lnTo>
                <a:lnTo>
                  <a:pt x="1530147" y="885611"/>
                </a:lnTo>
                <a:lnTo>
                  <a:pt x="1577002" y="877428"/>
                </a:lnTo>
                <a:lnTo>
                  <a:pt x="1623278" y="866870"/>
                </a:lnTo>
                <a:lnTo>
                  <a:pt x="1668909" y="853698"/>
                </a:lnTo>
                <a:lnTo>
                  <a:pt x="1714713" y="837437"/>
                </a:lnTo>
                <a:lnTo>
                  <a:pt x="1758679" y="818798"/>
                </a:lnTo>
                <a:lnTo>
                  <a:pt x="1800911" y="797908"/>
                </a:lnTo>
                <a:lnTo>
                  <a:pt x="1841512" y="774896"/>
                </a:lnTo>
                <a:lnTo>
                  <a:pt x="1880588" y="749890"/>
                </a:lnTo>
                <a:lnTo>
                  <a:pt x="1918242" y="723017"/>
                </a:lnTo>
                <a:lnTo>
                  <a:pt x="1954578" y="694406"/>
                </a:lnTo>
                <a:lnTo>
                  <a:pt x="1989700" y="664184"/>
                </a:lnTo>
                <a:lnTo>
                  <a:pt x="2023714" y="632480"/>
                </a:lnTo>
                <a:lnTo>
                  <a:pt x="2056722" y="599421"/>
                </a:lnTo>
                <a:lnTo>
                  <a:pt x="2088829" y="565136"/>
                </a:lnTo>
                <a:lnTo>
                  <a:pt x="2120140" y="529752"/>
                </a:lnTo>
                <a:lnTo>
                  <a:pt x="2150758" y="493397"/>
                </a:lnTo>
                <a:lnTo>
                  <a:pt x="2180788" y="456200"/>
                </a:lnTo>
                <a:lnTo>
                  <a:pt x="2210333" y="418287"/>
                </a:lnTo>
                <a:lnTo>
                  <a:pt x="2239499" y="379788"/>
                </a:lnTo>
                <a:lnTo>
                  <a:pt x="2268388" y="340829"/>
                </a:lnTo>
                <a:lnTo>
                  <a:pt x="2383271" y="182965"/>
                </a:lnTo>
                <a:lnTo>
                  <a:pt x="2412344" y="143631"/>
                </a:lnTo>
                <a:lnTo>
                  <a:pt x="2441766" y="104605"/>
                </a:lnTo>
                <a:lnTo>
                  <a:pt x="2471642" y="66017"/>
                </a:lnTo>
                <a:lnTo>
                  <a:pt x="2502075" y="27992"/>
                </a:lnTo>
                <a:lnTo>
                  <a:pt x="2525391" y="0"/>
                </a:lnTo>
                <a:lnTo>
                  <a:pt x="2525391" y="899299"/>
                </a:lnTo>
                <a:close/>
              </a:path>
              <a:path w="2525395" h="1441450">
                <a:moveTo>
                  <a:pt x="2525391" y="1441453"/>
                </a:moveTo>
                <a:lnTo>
                  <a:pt x="0" y="1441453"/>
                </a:lnTo>
                <a:lnTo>
                  <a:pt x="4930" y="1434525"/>
                </a:lnTo>
                <a:lnTo>
                  <a:pt x="31620" y="1395771"/>
                </a:lnTo>
                <a:lnTo>
                  <a:pt x="84395" y="1317768"/>
                </a:lnTo>
                <a:lnTo>
                  <a:pt x="110980" y="1279018"/>
                </a:lnTo>
                <a:lnTo>
                  <a:pt x="138029" y="1240770"/>
                </a:lnTo>
                <a:lnTo>
                  <a:pt x="165794" y="1203273"/>
                </a:lnTo>
                <a:lnTo>
                  <a:pt x="194523" y="1166777"/>
                </a:lnTo>
                <a:lnTo>
                  <a:pt x="224467" y="1131531"/>
                </a:lnTo>
                <a:lnTo>
                  <a:pt x="255875" y="1097787"/>
                </a:lnTo>
                <a:lnTo>
                  <a:pt x="288999" y="1065792"/>
                </a:lnTo>
                <a:lnTo>
                  <a:pt x="324086" y="1035799"/>
                </a:lnTo>
                <a:lnTo>
                  <a:pt x="361389" y="1008055"/>
                </a:lnTo>
                <a:lnTo>
                  <a:pt x="401156" y="982811"/>
                </a:lnTo>
                <a:lnTo>
                  <a:pt x="442370" y="960847"/>
                </a:lnTo>
                <a:lnTo>
                  <a:pt x="484568" y="942172"/>
                </a:lnTo>
                <a:lnTo>
                  <a:pt x="527686" y="926549"/>
                </a:lnTo>
                <a:lnTo>
                  <a:pt x="571659" y="913743"/>
                </a:lnTo>
                <a:lnTo>
                  <a:pt x="616420" y="903518"/>
                </a:lnTo>
                <a:lnTo>
                  <a:pt x="661906" y="895637"/>
                </a:lnTo>
                <a:lnTo>
                  <a:pt x="708051" y="889865"/>
                </a:lnTo>
                <a:lnTo>
                  <a:pt x="754790" y="885965"/>
                </a:lnTo>
                <a:lnTo>
                  <a:pt x="802057" y="883701"/>
                </a:lnTo>
                <a:lnTo>
                  <a:pt x="849787" y="882838"/>
                </a:lnTo>
                <a:lnTo>
                  <a:pt x="897916" y="883140"/>
                </a:lnTo>
                <a:lnTo>
                  <a:pt x="946377" y="884369"/>
                </a:lnTo>
                <a:lnTo>
                  <a:pt x="1191395" y="896180"/>
                </a:lnTo>
                <a:lnTo>
                  <a:pt x="1240485" y="898022"/>
                </a:lnTo>
                <a:lnTo>
                  <a:pt x="1289451" y="899140"/>
                </a:lnTo>
                <a:lnTo>
                  <a:pt x="2525391" y="899299"/>
                </a:lnTo>
                <a:lnTo>
                  <a:pt x="2525391" y="1441453"/>
                </a:lnTo>
                <a:close/>
              </a:path>
            </a:pathLst>
          </a:custGeom>
          <a:solidFill>
            <a:srgbClr val="0A0C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02482" y="3382273"/>
            <a:ext cx="1368425" cy="6648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700" marR="5080" indent="-635">
              <a:lnSpc>
                <a:spcPct val="106900"/>
              </a:lnSpc>
              <a:spcBef>
                <a:spcPts val="114"/>
              </a:spcBef>
            </a:pPr>
            <a:r>
              <a:rPr dirty="0" sz="1400" spc="95">
                <a:solidFill>
                  <a:srgbClr val="C6BEED"/>
                </a:solidFill>
                <a:latin typeface="Tahoma"/>
                <a:cs typeface="Tahoma"/>
              </a:rPr>
              <a:t>Pseudo-</a:t>
            </a:r>
            <a:r>
              <a:rPr dirty="0" sz="1400" spc="65">
                <a:solidFill>
                  <a:srgbClr val="C6BEED"/>
                </a:solidFill>
                <a:latin typeface="Tahoma"/>
                <a:cs typeface="Tahoma"/>
              </a:rPr>
              <a:t>Labels </a:t>
            </a:r>
            <a:r>
              <a:rPr dirty="0" sz="1250" spc="-75">
                <a:solidFill>
                  <a:srgbClr val="D9D8E8"/>
                </a:solidFill>
                <a:latin typeface="Trebuchet MS"/>
                <a:cs typeface="Trebuchet MS"/>
              </a:rPr>
              <a:t>Generate</a:t>
            </a:r>
            <a:r>
              <a:rPr dirty="0" sz="1250" spc="-3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D9D8E8"/>
                </a:solidFill>
                <a:latin typeface="Trebuchet MS"/>
                <a:cs typeface="Trebuchet MS"/>
              </a:rPr>
              <a:t>labelsfrom </a:t>
            </a:r>
            <a:r>
              <a:rPr dirty="0" sz="1250" spc="-70">
                <a:solidFill>
                  <a:srgbClr val="D9D8E8"/>
                </a:solidFill>
                <a:latin typeface="Trebuchet MS"/>
                <a:cs typeface="Trebuchet MS"/>
              </a:rPr>
              <a:t>teacher</a:t>
            </a:r>
            <a:r>
              <a:rPr dirty="0" sz="1250" spc="-4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outputs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80337" y="794038"/>
            <a:ext cx="1237615" cy="885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4925" marR="17780">
              <a:lnSpc>
                <a:spcPct val="105700"/>
              </a:lnSpc>
              <a:spcBef>
                <a:spcPts val="95"/>
              </a:spcBef>
            </a:pPr>
            <a:r>
              <a:rPr dirty="0" sz="1400" spc="114">
                <a:solidFill>
                  <a:srgbClr val="D9D8E8"/>
                </a:solidFill>
                <a:latin typeface="Tahoma"/>
                <a:cs typeface="Tahoma"/>
              </a:rPr>
              <a:t>RAW</a:t>
            </a:r>
            <a:r>
              <a:rPr dirty="0" sz="1400" spc="7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D9D8E8"/>
                </a:solidFill>
                <a:latin typeface="Tahoma"/>
                <a:cs typeface="Tahoma"/>
              </a:rPr>
              <a:t>Student </a:t>
            </a:r>
            <a:r>
              <a:rPr dirty="0" sz="1400" spc="50">
                <a:solidFill>
                  <a:srgbClr val="D9D8E8"/>
                </a:solidFill>
                <a:latin typeface="Tahoma"/>
                <a:cs typeface="Tahoma"/>
              </a:rPr>
              <a:t>Training</a:t>
            </a:r>
            <a:endParaRPr sz="1400">
              <a:latin typeface="Tahoma"/>
              <a:cs typeface="Tahoma"/>
            </a:endParaRPr>
          </a:p>
          <a:p>
            <a:pPr algn="ctr" marL="12700" marR="5080">
              <a:lnSpc>
                <a:spcPct val="106000"/>
              </a:lnSpc>
              <a:spcBef>
                <a:spcPts val="40"/>
              </a:spcBef>
            </a:pPr>
            <a:r>
              <a:rPr dirty="0" sz="1250" spc="-70">
                <a:solidFill>
                  <a:srgbClr val="D9D8E8"/>
                </a:solidFill>
                <a:latin typeface="Trebuchet MS"/>
                <a:cs typeface="Trebuchet MS"/>
              </a:rPr>
              <a:t>Train</a:t>
            </a:r>
            <a:r>
              <a:rPr dirty="0" sz="125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D9D8E8"/>
                </a:solidFill>
                <a:latin typeface="Trebuchet MS"/>
                <a:cs typeface="Trebuchet MS"/>
              </a:rPr>
              <a:t>on</a:t>
            </a:r>
            <a:r>
              <a:rPr dirty="0" sz="125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D9D8E8"/>
                </a:solidFill>
                <a:latin typeface="Trebuchet MS"/>
                <a:cs typeface="Trebuchet MS"/>
              </a:rPr>
              <a:t>RAW</a:t>
            </a:r>
            <a:r>
              <a:rPr dirty="0" sz="125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45">
                <a:solidFill>
                  <a:srgbClr val="D9D8E8"/>
                </a:solidFill>
                <a:latin typeface="Trebuchet MS"/>
                <a:cs typeface="Trebuchet MS"/>
              </a:rPr>
              <a:t>with 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pseudo-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labels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4685" y="805095"/>
            <a:ext cx="1317625" cy="939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7305">
              <a:lnSpc>
                <a:spcPct val="100000"/>
              </a:lnSpc>
              <a:spcBef>
                <a:spcPts val="105"/>
              </a:spcBef>
            </a:pPr>
            <a:r>
              <a:rPr dirty="0" sz="1400" spc="90">
                <a:solidFill>
                  <a:srgbClr val="D9D8E8"/>
                </a:solidFill>
                <a:latin typeface="Tahoma"/>
                <a:cs typeface="Tahoma"/>
              </a:rPr>
              <a:t>RAW</a:t>
            </a:r>
            <a:endParaRPr sz="1400">
              <a:latin typeface="Tahoma"/>
              <a:cs typeface="Tahoma"/>
            </a:endParaRPr>
          </a:p>
          <a:p>
            <a:pPr algn="ctr" marL="15240">
              <a:lnSpc>
                <a:spcPct val="100000"/>
              </a:lnSpc>
              <a:spcBef>
                <a:spcPts val="80"/>
              </a:spcBef>
            </a:pPr>
            <a:r>
              <a:rPr dirty="0" sz="1400" spc="85">
                <a:solidFill>
                  <a:srgbClr val="D9D8E8"/>
                </a:solidFill>
                <a:latin typeface="Tahoma"/>
                <a:cs typeface="Tahoma"/>
              </a:rPr>
              <a:t>Preprocess</a:t>
            </a:r>
            <a:endParaRPr sz="1400">
              <a:latin typeface="Tahoma"/>
              <a:cs typeface="Tahoma"/>
            </a:endParaRPr>
          </a:p>
          <a:p>
            <a:pPr algn="ctr" marL="38100" marR="30480">
              <a:lnSpc>
                <a:spcPct val="107900"/>
              </a:lnSpc>
              <a:spcBef>
                <a:spcPts val="509"/>
              </a:spcBef>
              <a:tabLst>
                <a:tab pos="633730" algn="l"/>
              </a:tabLst>
            </a:pPr>
            <a:r>
              <a:rPr dirty="0" sz="1250" spc="-70">
                <a:solidFill>
                  <a:srgbClr val="D9D8E8"/>
                </a:solidFill>
                <a:latin typeface="Trebuchet MS"/>
                <a:cs typeface="Trebuchet MS"/>
              </a:rPr>
              <a:t>Bayer</a:t>
            </a:r>
            <a:r>
              <a:rPr dirty="0" sz="125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baseline="13333" sz="1875" spc="-75">
                <a:solidFill>
                  <a:srgbClr val="D9D8E8"/>
                </a:solidFill>
                <a:latin typeface="Times New Roman"/>
                <a:cs typeface="Times New Roman"/>
              </a:rPr>
              <a:t>³</a:t>
            </a:r>
            <a:r>
              <a:rPr dirty="0" baseline="13333" sz="1875">
                <a:solidFill>
                  <a:srgbClr val="D9D8E8"/>
                </a:solidFill>
                <a:latin typeface="Times New Roman"/>
                <a:cs typeface="Times New Roman"/>
              </a:rPr>
              <a:t>	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4-</a:t>
            </a:r>
            <a:r>
              <a:rPr dirty="0" sz="1250" spc="-60">
                <a:solidFill>
                  <a:srgbClr val="D9D8E8"/>
                </a:solidFill>
                <a:latin typeface="Trebuchet MS"/>
                <a:cs typeface="Trebuchet MS"/>
              </a:rPr>
              <a:t>channel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conversion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74136" y="3172621"/>
            <a:ext cx="1121410" cy="9398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ctr" marL="29209" marR="38735">
              <a:lnSpc>
                <a:spcPct val="104700"/>
              </a:lnSpc>
              <a:spcBef>
                <a:spcPts val="25"/>
              </a:spcBef>
            </a:pPr>
            <a:r>
              <a:rPr dirty="0" sz="1400" spc="65">
                <a:solidFill>
                  <a:srgbClr val="D9D8E8"/>
                </a:solidFill>
                <a:latin typeface="Tahoma"/>
                <a:cs typeface="Tahoma"/>
              </a:rPr>
              <a:t>Dark3Bright </a:t>
            </a:r>
            <a:r>
              <a:rPr dirty="0" sz="1400" spc="60">
                <a:solidFill>
                  <a:srgbClr val="D9D8E8"/>
                </a:solidFill>
                <a:latin typeface="Tahoma"/>
                <a:cs typeface="Tahoma"/>
              </a:rPr>
              <a:t>Pairing</a:t>
            </a:r>
            <a:endParaRPr sz="1400">
              <a:latin typeface="Tahoma"/>
              <a:cs typeface="Tahoma"/>
            </a:endParaRPr>
          </a:p>
          <a:p>
            <a:pPr algn="ctr" marL="12700" marR="5080" indent="-1270">
              <a:lnSpc>
                <a:spcPct val="107900"/>
              </a:lnSpc>
              <a:spcBef>
                <a:spcPts val="515"/>
              </a:spcBef>
            </a:pPr>
            <a:r>
              <a:rPr dirty="0" sz="1250" spc="-30">
                <a:solidFill>
                  <a:srgbClr val="D9D8E8"/>
                </a:solidFill>
                <a:latin typeface="Trebuchet MS"/>
                <a:cs typeface="Trebuchet MS"/>
              </a:rPr>
              <a:t>Match</a:t>
            </a:r>
            <a:r>
              <a:rPr dirty="0" sz="125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low/high 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exposure</a:t>
            </a:r>
            <a:r>
              <a:rPr dirty="0" sz="125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40">
                <a:solidFill>
                  <a:srgbClr val="D9D8E8"/>
                </a:solidFill>
                <a:latin typeface="Trebuchet MS"/>
                <a:cs typeface="Trebuchet MS"/>
              </a:rPr>
              <a:t>frames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50840" y="809724"/>
            <a:ext cx="945515" cy="11315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74295" marR="38735" indent="118110">
              <a:lnSpc>
                <a:spcPct val="102899"/>
              </a:lnSpc>
              <a:spcBef>
                <a:spcPts val="55"/>
              </a:spcBef>
            </a:pPr>
            <a:r>
              <a:rPr dirty="0" sz="1400" spc="65">
                <a:solidFill>
                  <a:srgbClr val="C6BEED"/>
                </a:solidFill>
                <a:latin typeface="Tahoma"/>
                <a:cs typeface="Tahoma"/>
              </a:rPr>
              <a:t>Teacher </a:t>
            </a:r>
            <a:r>
              <a:rPr dirty="0" sz="1400" spc="45">
                <a:solidFill>
                  <a:srgbClr val="C6BEED"/>
                </a:solidFill>
                <a:latin typeface="Tahoma"/>
                <a:cs typeface="Tahoma"/>
              </a:rPr>
              <a:t>Inference</a:t>
            </a:r>
            <a:endParaRPr sz="1400">
              <a:latin typeface="Tahoma"/>
              <a:cs typeface="Tahoma"/>
            </a:endParaRPr>
          </a:p>
          <a:p>
            <a:pPr algn="ctr" marL="12700" marR="5080" indent="635">
              <a:lnSpc>
                <a:spcPct val="105500"/>
              </a:lnSpc>
              <a:spcBef>
                <a:spcPts val="545"/>
              </a:spcBef>
            </a:pPr>
            <a:r>
              <a:rPr dirty="0" sz="1250" spc="-45">
                <a:solidFill>
                  <a:srgbClr val="D9D8E8"/>
                </a:solidFill>
                <a:latin typeface="Trebuchet MS"/>
                <a:cs typeface="Trebuchet MS"/>
              </a:rPr>
              <a:t>Bright</a:t>
            </a:r>
            <a:r>
              <a:rPr dirty="0" sz="125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D9D8E8"/>
                </a:solidFill>
                <a:latin typeface="Trebuchet MS"/>
                <a:cs typeface="Trebuchet MS"/>
              </a:rPr>
              <a:t>RGB </a:t>
            </a:r>
            <a:r>
              <a:rPr dirty="0" sz="1250" spc="-40">
                <a:solidFill>
                  <a:srgbClr val="D9D8E8"/>
                </a:solidFill>
                <a:latin typeface="Trebuchet MS"/>
                <a:cs typeface="Trebuchet MS"/>
              </a:rPr>
              <a:t>segmentation </a:t>
            </a:r>
            <a:r>
              <a:rPr dirty="0" sz="1250" spc="-10">
                <a:solidFill>
                  <a:srgbClr val="D9D8E8"/>
                </a:solidFill>
                <a:latin typeface="Trebuchet MS"/>
                <a:cs typeface="Trebuchet MS"/>
              </a:rPr>
              <a:t>output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9595" y="4691400"/>
            <a:ext cx="68992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5">
                <a:solidFill>
                  <a:srgbClr val="D9D8E8"/>
                </a:solidFill>
                <a:latin typeface="Trebuchet MS"/>
                <a:cs typeface="Trebuchet MS"/>
              </a:rPr>
              <a:t>Caption:</a:t>
            </a:r>
            <a:r>
              <a:rPr dirty="0" sz="140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75">
                <a:solidFill>
                  <a:srgbClr val="D9D8E8"/>
                </a:solidFill>
                <a:latin typeface="Trebuchet MS"/>
                <a:cs typeface="Trebuchet MS"/>
              </a:rPr>
              <a:t>End-</a:t>
            </a:r>
            <a:r>
              <a:rPr dirty="0" sz="1400" spc="-65">
                <a:solidFill>
                  <a:srgbClr val="D9D8E8"/>
                </a:solidFill>
                <a:latin typeface="Trebuchet MS"/>
                <a:cs typeface="Trebuchet MS"/>
              </a:rPr>
              <a:t>to-end</a:t>
            </a:r>
            <a:r>
              <a:rPr dirty="0" sz="140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D9D8E8"/>
                </a:solidFill>
                <a:latin typeface="Trebuchet MS"/>
                <a:cs typeface="Trebuchet MS"/>
              </a:rPr>
              <a:t>processing</a:t>
            </a:r>
            <a:r>
              <a:rPr dirty="0" sz="1400" spc="-65">
                <a:solidFill>
                  <a:srgbClr val="D9D8E8"/>
                </a:solidFill>
                <a:latin typeface="Trebuchet MS"/>
                <a:cs typeface="Trebuchet MS"/>
              </a:rPr>
              <a:t> chain</a:t>
            </a:r>
            <a:r>
              <a:rPr dirty="0" sz="140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D9D8E8"/>
                </a:solidFill>
                <a:latin typeface="Trebuchet MS"/>
                <a:cs typeface="Trebuchet MS"/>
              </a:rPr>
              <a:t>4</a:t>
            </a:r>
            <a:r>
              <a:rPr dirty="0" sz="14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D9D8E8"/>
                </a:solidFill>
                <a:latin typeface="Trebuchet MS"/>
                <a:cs typeface="Trebuchet MS"/>
              </a:rPr>
              <a:t>sensor-</a:t>
            </a:r>
            <a:r>
              <a:rPr dirty="0" sz="1400" spc="-100">
                <a:solidFill>
                  <a:srgbClr val="D9D8E8"/>
                </a:solidFill>
                <a:latin typeface="Trebuchet MS"/>
                <a:cs typeface="Trebuchet MS"/>
              </a:rPr>
              <a:t>level</a:t>
            </a:r>
            <a:r>
              <a:rPr dirty="0" sz="140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D9D8E8"/>
                </a:solidFill>
                <a:latin typeface="Trebuchet MS"/>
                <a:cs typeface="Trebuchet MS"/>
              </a:rPr>
              <a:t>input</a:t>
            </a:r>
            <a:r>
              <a:rPr dirty="0" sz="14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D9D8E8"/>
                </a:solidFill>
                <a:latin typeface="Trebuchet MS"/>
                <a:cs typeface="Trebuchet MS"/>
              </a:rPr>
              <a:t>to</a:t>
            </a:r>
            <a:r>
              <a:rPr dirty="0" sz="140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D9D8E8"/>
                </a:solidFill>
                <a:latin typeface="Trebuchet MS"/>
                <a:cs typeface="Trebuchet MS"/>
              </a:rPr>
              <a:t>trained </a:t>
            </a:r>
            <a:r>
              <a:rPr dirty="0" sz="1400" spc="-50">
                <a:solidFill>
                  <a:srgbClr val="D9D8E8"/>
                </a:solidFill>
                <a:latin typeface="Trebuchet MS"/>
                <a:cs typeface="Trebuchet MS"/>
              </a:rPr>
              <a:t>RAW</a:t>
            </a:r>
            <a:r>
              <a:rPr dirty="0" sz="1400" spc="-7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D9D8E8"/>
                </a:solidFill>
                <a:latin typeface="Trebuchet MS"/>
                <a:cs typeface="Trebuchet MS"/>
              </a:rPr>
              <a:t>segmentation</a:t>
            </a:r>
            <a:r>
              <a:rPr dirty="0" sz="14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D9D8E8"/>
                </a:solidFill>
                <a:latin typeface="Trebuchet MS"/>
                <a:cs typeface="Trebuchet MS"/>
              </a:rPr>
              <a:t>model.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9595" y="5404594"/>
            <a:ext cx="897128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95"/>
              </a:spcBef>
            </a:pP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55">
                <a:solidFill>
                  <a:srgbClr val="D9D8E8"/>
                </a:solidFill>
                <a:latin typeface="Trebuchet MS"/>
                <a:cs typeface="Trebuchet MS"/>
              </a:rPr>
              <a:t>number: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190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 Group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55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50">
                <a:solidFill>
                  <a:srgbClr val="D9D8E8"/>
                </a:solidFill>
                <a:latin typeface="Trebuchet MS"/>
                <a:cs typeface="Trebuchet MS"/>
              </a:rPr>
              <a:t>Fatema</a:t>
            </a: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 Tabassum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55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 (2222904042),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Arefin </a:t>
            </a:r>
            <a:r>
              <a:rPr dirty="0" sz="1100" spc="-30">
                <a:solidFill>
                  <a:srgbClr val="D9D8E8"/>
                </a:solidFill>
                <a:latin typeface="Trebuchet MS"/>
                <a:cs typeface="Trebuchet MS"/>
              </a:rPr>
              <a:t>Amin</a:t>
            </a: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65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55">
                <a:solidFill>
                  <a:srgbClr val="D9D8E8"/>
                </a:solidFill>
                <a:latin typeface="Trebuchet MS"/>
                <a:cs typeface="Trebuchet MS"/>
              </a:rPr>
              <a:t>Labiba</a:t>
            </a: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65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Karim </a:t>
            </a:r>
            <a:r>
              <a:rPr dirty="0" sz="1100" spc="-55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55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100" spc="-4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D9D8E8"/>
                </a:solidFill>
                <a:latin typeface="Trebuchet MS"/>
                <a:cs typeface="Trebuchet MS"/>
              </a:rPr>
              <a:t>Hasan </a:t>
            </a:r>
            <a:r>
              <a:rPr dirty="0" sz="1100" spc="-10">
                <a:solidFill>
                  <a:srgbClr val="D9D8E8"/>
                </a:solidFill>
                <a:latin typeface="Trebuchet MS"/>
                <a:cs typeface="Trebuchet MS"/>
              </a:rPr>
              <a:t>Ankon (2222568042)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8332143" y="5532126"/>
            <a:ext cx="2209165" cy="906780"/>
          </a:xfrm>
          <a:custGeom>
            <a:avLst/>
            <a:gdLst/>
            <a:ahLst/>
            <a:cxnLst/>
            <a:rect l="l" t="t" r="r" b="b"/>
            <a:pathLst>
              <a:path w="2209165" h="906779">
                <a:moveTo>
                  <a:pt x="2209030" y="245941"/>
                </a:moveTo>
                <a:lnTo>
                  <a:pt x="1500016" y="245941"/>
                </a:lnTo>
                <a:lnTo>
                  <a:pt x="1547726" y="245240"/>
                </a:lnTo>
                <a:lnTo>
                  <a:pt x="1595170" y="243335"/>
                </a:lnTo>
                <a:lnTo>
                  <a:pt x="1642298" y="240040"/>
                </a:lnTo>
                <a:lnTo>
                  <a:pt x="1689058" y="235166"/>
                </a:lnTo>
                <a:lnTo>
                  <a:pt x="1735398" y="228527"/>
                </a:lnTo>
                <a:lnTo>
                  <a:pt x="1781265" y="219933"/>
                </a:lnTo>
                <a:lnTo>
                  <a:pt x="1826608" y="209199"/>
                </a:lnTo>
                <a:lnTo>
                  <a:pt x="1871376" y="196135"/>
                </a:lnTo>
                <a:lnTo>
                  <a:pt x="1917017" y="180067"/>
                </a:lnTo>
                <a:lnTo>
                  <a:pt x="1960983" y="161832"/>
                </a:lnTo>
                <a:lnTo>
                  <a:pt x="2003359" y="141536"/>
                </a:lnTo>
                <a:lnTo>
                  <a:pt x="2044231" y="119285"/>
                </a:lnTo>
                <a:lnTo>
                  <a:pt x="2083687" y="95184"/>
                </a:lnTo>
                <a:lnTo>
                  <a:pt x="2121811" y="69340"/>
                </a:lnTo>
                <a:lnTo>
                  <a:pt x="2158691" y="41858"/>
                </a:lnTo>
                <a:lnTo>
                  <a:pt x="2194411" y="12843"/>
                </a:lnTo>
                <a:lnTo>
                  <a:pt x="2209030" y="0"/>
                </a:lnTo>
                <a:lnTo>
                  <a:pt x="2209030" y="245941"/>
                </a:lnTo>
                <a:close/>
              </a:path>
              <a:path w="2209165" h="906779">
                <a:moveTo>
                  <a:pt x="2209030" y="906773"/>
                </a:moveTo>
                <a:lnTo>
                  <a:pt x="0" y="906773"/>
                </a:lnTo>
                <a:lnTo>
                  <a:pt x="16836" y="884609"/>
                </a:lnTo>
                <a:lnTo>
                  <a:pt x="45434" y="845008"/>
                </a:lnTo>
                <a:lnTo>
                  <a:pt x="73410" y="804821"/>
                </a:lnTo>
                <a:lnTo>
                  <a:pt x="155977" y="683120"/>
                </a:lnTo>
                <a:lnTo>
                  <a:pt x="183836" y="642962"/>
                </a:lnTo>
                <a:lnTo>
                  <a:pt x="212259" y="603405"/>
                </a:lnTo>
                <a:lnTo>
                  <a:pt x="241482" y="564684"/>
                </a:lnTo>
                <a:lnTo>
                  <a:pt x="271744" y="527037"/>
                </a:lnTo>
                <a:lnTo>
                  <a:pt x="303280" y="490701"/>
                </a:lnTo>
                <a:lnTo>
                  <a:pt x="336329" y="455913"/>
                </a:lnTo>
                <a:lnTo>
                  <a:pt x="371128" y="422910"/>
                </a:lnTo>
                <a:lnTo>
                  <a:pt x="407913" y="391930"/>
                </a:lnTo>
                <a:lnTo>
                  <a:pt x="446922" y="363208"/>
                </a:lnTo>
                <a:lnTo>
                  <a:pt x="488393" y="336983"/>
                </a:lnTo>
                <a:lnTo>
                  <a:pt x="528807" y="315253"/>
                </a:lnTo>
                <a:lnTo>
                  <a:pt x="570097" y="296450"/>
                </a:lnTo>
                <a:lnTo>
                  <a:pt x="612211" y="280386"/>
                </a:lnTo>
                <a:lnTo>
                  <a:pt x="655098" y="266873"/>
                </a:lnTo>
                <a:lnTo>
                  <a:pt x="698705" y="255724"/>
                </a:lnTo>
                <a:lnTo>
                  <a:pt x="742980" y="246751"/>
                </a:lnTo>
                <a:lnTo>
                  <a:pt x="787873" y="239767"/>
                </a:lnTo>
                <a:lnTo>
                  <a:pt x="833330" y="234582"/>
                </a:lnTo>
                <a:lnTo>
                  <a:pt x="879301" y="231011"/>
                </a:lnTo>
                <a:lnTo>
                  <a:pt x="925733" y="228865"/>
                </a:lnTo>
                <a:lnTo>
                  <a:pt x="972574" y="227956"/>
                </a:lnTo>
                <a:lnTo>
                  <a:pt x="1019773" y="228097"/>
                </a:lnTo>
                <a:lnTo>
                  <a:pt x="1067277" y="229100"/>
                </a:lnTo>
                <a:lnTo>
                  <a:pt x="1162995" y="232941"/>
                </a:lnTo>
                <a:lnTo>
                  <a:pt x="1355819" y="242706"/>
                </a:lnTo>
                <a:lnTo>
                  <a:pt x="1404011" y="244487"/>
                </a:lnTo>
                <a:lnTo>
                  <a:pt x="1452094" y="245628"/>
                </a:lnTo>
                <a:lnTo>
                  <a:pt x="2209030" y="245941"/>
                </a:lnTo>
                <a:lnTo>
                  <a:pt x="2209030" y="906773"/>
                </a:lnTo>
                <a:close/>
              </a:path>
            </a:pathLst>
          </a:custGeom>
          <a:solidFill>
            <a:srgbClr val="0A0C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-3" y="-3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453" y="6438591"/>
                </a:moveTo>
                <a:lnTo>
                  <a:pt x="0" y="6438591"/>
                </a:lnTo>
                <a:lnTo>
                  <a:pt x="0" y="0"/>
                </a:lnTo>
                <a:lnTo>
                  <a:pt x="11429453" y="0"/>
                </a:lnTo>
                <a:lnTo>
                  <a:pt x="11429453" y="6438591"/>
                </a:lnTo>
                <a:close/>
              </a:path>
            </a:pathLst>
          </a:custGeom>
          <a:solidFill>
            <a:srgbClr val="0A0C23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88" y="2285887"/>
            <a:ext cx="76196" cy="7619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288" y="2657344"/>
            <a:ext cx="76196" cy="761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288" y="3038326"/>
            <a:ext cx="76196" cy="761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288" y="3409784"/>
            <a:ext cx="76196" cy="76196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676239" y="4409861"/>
            <a:ext cx="10077450" cy="9525"/>
          </a:xfrm>
          <a:custGeom>
            <a:avLst/>
            <a:gdLst/>
            <a:ahLst/>
            <a:cxnLst/>
            <a:rect l="l" t="t" r="r" b="b"/>
            <a:pathLst>
              <a:path w="10077450" h="9525">
                <a:moveTo>
                  <a:pt x="10076968" y="9524"/>
                </a:moveTo>
                <a:lnTo>
                  <a:pt x="0" y="9524"/>
                </a:lnTo>
                <a:lnTo>
                  <a:pt x="0" y="0"/>
                </a:lnTo>
                <a:lnTo>
                  <a:pt x="10076968" y="0"/>
                </a:lnTo>
                <a:lnTo>
                  <a:pt x="10076968" y="9524"/>
                </a:lnTo>
                <a:close/>
              </a:path>
            </a:pathLst>
          </a:custGeom>
          <a:solidFill>
            <a:srgbClr val="D9D8E8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79791" y="5925793"/>
            <a:ext cx="1754422" cy="4190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960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20"/>
              <a:t>Key</a:t>
            </a:r>
            <a:r>
              <a:rPr dirty="0" spc="165"/>
              <a:t> </a:t>
            </a:r>
            <a:r>
              <a:rPr dirty="0" spc="180"/>
              <a:t>Technical</a:t>
            </a:r>
            <a:r>
              <a:rPr dirty="0" spc="170"/>
              <a:t> </a:t>
            </a:r>
            <a:r>
              <a:rPr dirty="0" spc="110"/>
              <a:t>Insights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662352" y="2030809"/>
            <a:ext cx="5144770" cy="2040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0675" marR="542290">
              <a:lnSpc>
                <a:spcPct val="160500"/>
              </a:lnSpc>
              <a:spcBef>
                <a:spcPts val="95"/>
              </a:spcBef>
            </a:pPr>
            <a:r>
              <a:rPr dirty="0" sz="1500" spc="-90" b="1">
                <a:solidFill>
                  <a:srgbClr val="D9D8E8"/>
                </a:solidFill>
                <a:latin typeface="Trebuchet MS"/>
                <a:cs typeface="Trebuchet MS"/>
              </a:rPr>
              <a:t>4-</a:t>
            </a:r>
            <a:r>
              <a:rPr dirty="0" sz="1500" spc="-45" b="1">
                <a:solidFill>
                  <a:srgbClr val="D9D8E8"/>
                </a:solidFill>
                <a:latin typeface="Trebuchet MS"/>
                <a:cs typeface="Trebuchet MS"/>
              </a:rPr>
              <a:t>channelRAW</a:t>
            </a:r>
            <a:r>
              <a:rPr dirty="0" sz="1500" spc="5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representationretainssensor</a:t>
            </a:r>
            <a:r>
              <a:rPr dirty="0" sz="1500" spc="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D9D8E8"/>
                </a:solidFill>
                <a:latin typeface="Trebuchet MS"/>
                <a:cs typeface="Trebuchet MS"/>
              </a:rPr>
              <a:t>sampling </a:t>
            </a:r>
            <a:r>
              <a:rPr dirty="0" sz="1500">
                <a:solidFill>
                  <a:srgbClr val="D9D8E8"/>
                </a:solidFill>
                <a:latin typeface="Trebuchet MS"/>
                <a:cs typeface="Trebuchet MS"/>
              </a:rPr>
              <a:t>No</a:t>
            </a:r>
            <a:r>
              <a:rPr dirty="0" sz="1500" spc="-9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demosaicing</a:t>
            </a:r>
            <a:r>
              <a:rPr dirty="0" sz="1500" spc="-9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9D8E8"/>
                </a:solidFill>
                <a:latin typeface="Times New Roman"/>
                <a:cs typeface="Times New Roman"/>
              </a:rPr>
              <a:t>³</a:t>
            </a:r>
            <a:r>
              <a:rPr dirty="0" sz="1500" spc="-10">
                <a:solidFill>
                  <a:srgbClr val="D9D8E8"/>
                </a:solidFill>
                <a:latin typeface="Times New Roman"/>
                <a:cs typeface="Times New Roman"/>
              </a:rPr>
              <a:t> </a:t>
            </a:r>
            <a:r>
              <a:rPr dirty="0" sz="1500" spc="-25" b="1">
                <a:solidFill>
                  <a:srgbClr val="D9D8E8"/>
                </a:solidFill>
                <a:latin typeface="Trebuchet MS"/>
                <a:cs typeface="Trebuchet MS"/>
              </a:rPr>
              <a:t>no</a:t>
            </a:r>
            <a:r>
              <a:rPr dirty="0" sz="1500" spc="-65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0" b="1">
                <a:solidFill>
                  <a:srgbClr val="D9D8E8"/>
                </a:solidFill>
                <a:latin typeface="Trebuchet MS"/>
                <a:cs typeface="Trebuchet MS"/>
              </a:rPr>
              <a:t>interpolation</a:t>
            </a:r>
            <a:r>
              <a:rPr dirty="0" sz="1500" spc="-70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D9D8E8"/>
                </a:solidFill>
                <a:latin typeface="Trebuchet MS"/>
                <a:cs typeface="Trebuchet MS"/>
              </a:rPr>
              <a:t>losses</a:t>
            </a:r>
            <a:endParaRPr sz="1500">
              <a:latin typeface="Trebuchet MS"/>
              <a:cs typeface="Trebuchet MS"/>
            </a:endParaRPr>
          </a:p>
          <a:p>
            <a:pPr marL="320675" marR="5080">
              <a:lnSpc>
                <a:spcPct val="162500"/>
              </a:lnSpc>
            </a:pPr>
            <a:r>
              <a:rPr dirty="0" sz="1500" spc="-45" b="1">
                <a:solidFill>
                  <a:srgbClr val="D9D8E8"/>
                </a:solidFill>
                <a:latin typeface="Trebuchet MS"/>
                <a:cs typeface="Trebuchet MS"/>
              </a:rPr>
              <a:t>Transformer</a:t>
            </a:r>
            <a:r>
              <a:rPr dirty="0" sz="1500" spc="-65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 b="1">
                <a:solidFill>
                  <a:srgbClr val="D9D8E8"/>
                </a:solidFill>
                <a:latin typeface="Trebuchet MS"/>
                <a:cs typeface="Trebuchet MS"/>
              </a:rPr>
              <a:t>backbone</a:t>
            </a:r>
            <a:r>
              <a:rPr dirty="0" sz="1500" spc="-85" b="1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(SegFormer)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adapted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to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RAW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inputs 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Transfer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learning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tailored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for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sensor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domain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Message: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We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exploit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sensor-</a:t>
            </a:r>
            <a:r>
              <a:rPr dirty="0" sz="1500" spc="-95">
                <a:solidFill>
                  <a:srgbClr val="D9D8E8"/>
                </a:solidFill>
                <a:latin typeface="Trebuchet MS"/>
                <a:cs typeface="Trebuchet MS"/>
              </a:rPr>
              <a:t>level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data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for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robustness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2352" y="4597091"/>
            <a:ext cx="9729470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number: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Fatema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Tabassum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(2222904042),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D9D8E8"/>
                </a:solidFill>
                <a:latin typeface="Trebuchet MS"/>
                <a:cs typeface="Trebuchet MS"/>
              </a:rPr>
              <a:t>Amin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Labiba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D9D8E8"/>
                </a:solidFill>
                <a:latin typeface="Trebuchet MS"/>
                <a:cs typeface="Trebuchet MS"/>
              </a:rPr>
              <a:t>Ankon (2222568042)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346439" y="4006882"/>
            <a:ext cx="4083685" cy="2432050"/>
          </a:xfrm>
          <a:custGeom>
            <a:avLst/>
            <a:gdLst/>
            <a:ahLst/>
            <a:cxnLst/>
            <a:rect l="l" t="t" r="r" b="b"/>
            <a:pathLst>
              <a:path w="4083684" h="2432050">
                <a:moveTo>
                  <a:pt x="4083559" y="1303159"/>
                </a:moveTo>
                <a:lnTo>
                  <a:pt x="2405459" y="1303159"/>
                </a:lnTo>
                <a:lnTo>
                  <a:pt x="2454087" y="1302954"/>
                </a:lnTo>
                <a:lnTo>
                  <a:pt x="2502487" y="1301692"/>
                </a:lnTo>
                <a:lnTo>
                  <a:pt x="2552484" y="1299108"/>
                </a:lnTo>
                <a:lnTo>
                  <a:pt x="2551805" y="1299108"/>
                </a:lnTo>
                <a:lnTo>
                  <a:pt x="2598418" y="1295324"/>
                </a:lnTo>
                <a:lnTo>
                  <a:pt x="2645857" y="1289883"/>
                </a:lnTo>
                <a:lnTo>
                  <a:pt x="2692883" y="1282713"/>
                </a:lnTo>
                <a:lnTo>
                  <a:pt x="2739450" y="1273647"/>
                </a:lnTo>
                <a:lnTo>
                  <a:pt x="2785511" y="1262517"/>
                </a:lnTo>
                <a:lnTo>
                  <a:pt x="2831020" y="1249155"/>
                </a:lnTo>
                <a:lnTo>
                  <a:pt x="2876585" y="1233228"/>
                </a:lnTo>
                <a:lnTo>
                  <a:pt x="2920608" y="1215307"/>
                </a:lnTo>
                <a:lnTo>
                  <a:pt x="2963163" y="1195483"/>
                </a:lnTo>
                <a:lnTo>
                  <a:pt x="3004322" y="1173844"/>
                </a:lnTo>
                <a:lnTo>
                  <a:pt x="3044157" y="1150480"/>
                </a:lnTo>
                <a:lnTo>
                  <a:pt x="3082741" y="1125479"/>
                </a:lnTo>
                <a:lnTo>
                  <a:pt x="3120146" y="1098931"/>
                </a:lnTo>
                <a:lnTo>
                  <a:pt x="3156445" y="1070924"/>
                </a:lnTo>
                <a:lnTo>
                  <a:pt x="3191710" y="1041547"/>
                </a:lnTo>
                <a:lnTo>
                  <a:pt x="3226014" y="1010891"/>
                </a:lnTo>
                <a:lnTo>
                  <a:pt x="3259429" y="979043"/>
                </a:lnTo>
                <a:lnTo>
                  <a:pt x="3292028" y="946092"/>
                </a:lnTo>
                <a:lnTo>
                  <a:pt x="3323883" y="912129"/>
                </a:lnTo>
                <a:lnTo>
                  <a:pt x="3355067" y="877241"/>
                </a:lnTo>
                <a:lnTo>
                  <a:pt x="3385653" y="841518"/>
                </a:lnTo>
                <a:lnTo>
                  <a:pt x="3415712" y="805050"/>
                </a:lnTo>
                <a:lnTo>
                  <a:pt x="3445317" y="767924"/>
                </a:lnTo>
                <a:lnTo>
                  <a:pt x="3474542" y="730230"/>
                </a:lnTo>
                <a:lnTo>
                  <a:pt x="3503457" y="692057"/>
                </a:lnTo>
                <a:lnTo>
                  <a:pt x="3532137" y="653494"/>
                </a:lnTo>
                <a:lnTo>
                  <a:pt x="3560652" y="614630"/>
                </a:lnTo>
                <a:lnTo>
                  <a:pt x="3674529" y="457949"/>
                </a:lnTo>
                <a:lnTo>
                  <a:pt x="3703313" y="418917"/>
                </a:lnTo>
                <a:lnTo>
                  <a:pt x="3732370" y="380118"/>
                </a:lnTo>
                <a:lnTo>
                  <a:pt x="3761770" y="341642"/>
                </a:lnTo>
                <a:lnTo>
                  <a:pt x="3791586" y="303577"/>
                </a:lnTo>
                <a:lnTo>
                  <a:pt x="3821892" y="266013"/>
                </a:lnTo>
                <a:lnTo>
                  <a:pt x="3852758" y="229039"/>
                </a:lnTo>
                <a:lnTo>
                  <a:pt x="3884259" y="192743"/>
                </a:lnTo>
                <a:lnTo>
                  <a:pt x="3916466" y="157215"/>
                </a:lnTo>
                <a:lnTo>
                  <a:pt x="3949452" y="122544"/>
                </a:lnTo>
                <a:lnTo>
                  <a:pt x="3983289" y="88819"/>
                </a:lnTo>
                <a:lnTo>
                  <a:pt x="4018050" y="56129"/>
                </a:lnTo>
                <a:lnTo>
                  <a:pt x="4053808" y="24562"/>
                </a:lnTo>
                <a:lnTo>
                  <a:pt x="4083559" y="0"/>
                </a:lnTo>
                <a:lnTo>
                  <a:pt x="4083559" y="1303159"/>
                </a:lnTo>
                <a:close/>
              </a:path>
              <a:path w="4083684" h="2432050">
                <a:moveTo>
                  <a:pt x="4083559" y="2432016"/>
                </a:moveTo>
                <a:lnTo>
                  <a:pt x="0" y="2432016"/>
                </a:lnTo>
                <a:lnTo>
                  <a:pt x="5955" y="2431373"/>
                </a:lnTo>
                <a:lnTo>
                  <a:pt x="55935" y="2425201"/>
                </a:lnTo>
                <a:lnTo>
                  <a:pt x="105494" y="2418115"/>
                </a:lnTo>
                <a:lnTo>
                  <a:pt x="154558" y="2409934"/>
                </a:lnTo>
                <a:lnTo>
                  <a:pt x="203052" y="2400478"/>
                </a:lnTo>
                <a:lnTo>
                  <a:pt x="250902" y="2389567"/>
                </a:lnTo>
                <a:lnTo>
                  <a:pt x="298034" y="2377020"/>
                </a:lnTo>
                <a:lnTo>
                  <a:pt x="344374" y="2362659"/>
                </a:lnTo>
                <a:lnTo>
                  <a:pt x="389847" y="2346302"/>
                </a:lnTo>
                <a:lnTo>
                  <a:pt x="434380" y="2327770"/>
                </a:lnTo>
                <a:lnTo>
                  <a:pt x="477897" y="2306882"/>
                </a:lnTo>
                <a:lnTo>
                  <a:pt x="520326" y="2283459"/>
                </a:lnTo>
                <a:lnTo>
                  <a:pt x="561591" y="2257320"/>
                </a:lnTo>
                <a:lnTo>
                  <a:pt x="601060" y="2228713"/>
                </a:lnTo>
                <a:lnTo>
                  <a:pt x="638432" y="2198043"/>
                </a:lnTo>
                <a:lnTo>
                  <a:pt x="673903" y="2165506"/>
                </a:lnTo>
                <a:lnTo>
                  <a:pt x="707671" y="2131301"/>
                </a:lnTo>
                <a:lnTo>
                  <a:pt x="739936" y="2095626"/>
                </a:lnTo>
                <a:lnTo>
                  <a:pt x="770896" y="2058680"/>
                </a:lnTo>
                <a:lnTo>
                  <a:pt x="800747" y="2020659"/>
                </a:lnTo>
                <a:lnTo>
                  <a:pt x="829689" y="1981763"/>
                </a:lnTo>
                <a:lnTo>
                  <a:pt x="857920" y="1942189"/>
                </a:lnTo>
                <a:lnTo>
                  <a:pt x="885638" y="1902135"/>
                </a:lnTo>
                <a:lnTo>
                  <a:pt x="967695" y="1781077"/>
                </a:lnTo>
                <a:lnTo>
                  <a:pt x="995343" y="1741086"/>
                </a:lnTo>
                <a:lnTo>
                  <a:pt x="1023468" y="1701605"/>
                </a:lnTo>
                <a:lnTo>
                  <a:pt x="1052269" y="1662833"/>
                </a:lnTo>
                <a:lnTo>
                  <a:pt x="1081944" y="1624968"/>
                </a:lnTo>
                <a:lnTo>
                  <a:pt x="1112692" y="1588208"/>
                </a:lnTo>
                <a:lnTo>
                  <a:pt x="1144709" y="1552751"/>
                </a:lnTo>
                <a:lnTo>
                  <a:pt x="1178196" y="1518795"/>
                </a:lnTo>
                <a:lnTo>
                  <a:pt x="1213349" y="1486539"/>
                </a:lnTo>
                <a:lnTo>
                  <a:pt x="1250367" y="1456179"/>
                </a:lnTo>
                <a:lnTo>
                  <a:pt x="1289449" y="1427915"/>
                </a:lnTo>
                <a:lnTo>
                  <a:pt x="1330791" y="1401944"/>
                </a:lnTo>
                <a:lnTo>
                  <a:pt x="1371863" y="1379750"/>
                </a:lnTo>
                <a:lnTo>
                  <a:pt x="1413773" y="1360358"/>
                </a:lnTo>
                <a:lnTo>
                  <a:pt x="1456475" y="1343599"/>
                </a:lnTo>
                <a:lnTo>
                  <a:pt x="1499923" y="1329307"/>
                </a:lnTo>
                <a:lnTo>
                  <a:pt x="1544070" y="1317313"/>
                </a:lnTo>
                <a:lnTo>
                  <a:pt x="1588870" y="1307449"/>
                </a:lnTo>
                <a:lnTo>
                  <a:pt x="1634276" y="1299548"/>
                </a:lnTo>
                <a:lnTo>
                  <a:pt x="1680243" y="1293443"/>
                </a:lnTo>
                <a:lnTo>
                  <a:pt x="1726724" y="1288964"/>
                </a:lnTo>
                <a:lnTo>
                  <a:pt x="1773672" y="1285945"/>
                </a:lnTo>
                <a:lnTo>
                  <a:pt x="1821041" y="1284217"/>
                </a:lnTo>
                <a:lnTo>
                  <a:pt x="1868786" y="1283614"/>
                </a:lnTo>
                <a:lnTo>
                  <a:pt x="1916858" y="1283966"/>
                </a:lnTo>
                <a:lnTo>
                  <a:pt x="1965213" y="1285106"/>
                </a:lnTo>
                <a:lnTo>
                  <a:pt x="2060002" y="1288964"/>
                </a:lnTo>
                <a:lnTo>
                  <a:pt x="2060290" y="1288964"/>
                </a:lnTo>
                <a:lnTo>
                  <a:pt x="2258674" y="1299108"/>
                </a:lnTo>
                <a:lnTo>
                  <a:pt x="2307706" y="1301068"/>
                </a:lnTo>
                <a:lnTo>
                  <a:pt x="2356650" y="1302474"/>
                </a:lnTo>
                <a:lnTo>
                  <a:pt x="2405459" y="1303159"/>
                </a:lnTo>
                <a:lnTo>
                  <a:pt x="4083559" y="1303159"/>
                </a:lnTo>
                <a:lnTo>
                  <a:pt x="4083559" y="2432016"/>
                </a:lnTo>
                <a:close/>
              </a:path>
            </a:pathLst>
          </a:custGeom>
          <a:solidFill>
            <a:srgbClr val="0A0C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-3" y="-3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453" y="6438591"/>
                </a:moveTo>
                <a:lnTo>
                  <a:pt x="0" y="6438591"/>
                </a:lnTo>
                <a:lnTo>
                  <a:pt x="0" y="0"/>
                </a:lnTo>
                <a:lnTo>
                  <a:pt x="11429453" y="0"/>
                </a:lnTo>
                <a:lnTo>
                  <a:pt x="11429453" y="6438591"/>
                </a:lnTo>
                <a:close/>
              </a:path>
            </a:pathLst>
          </a:custGeom>
          <a:solidFill>
            <a:srgbClr val="0A0C23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88" y="2438280"/>
            <a:ext cx="76196" cy="7619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88" y="2819262"/>
            <a:ext cx="76196" cy="761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288" y="3190719"/>
            <a:ext cx="76196" cy="761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1411" y="2438280"/>
            <a:ext cx="76196" cy="76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1411" y="2819262"/>
            <a:ext cx="76196" cy="761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1411" y="3190719"/>
            <a:ext cx="76196" cy="76196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676239" y="4247943"/>
            <a:ext cx="10077450" cy="19050"/>
          </a:xfrm>
          <a:custGeom>
            <a:avLst/>
            <a:gdLst/>
            <a:ahLst/>
            <a:cxnLst/>
            <a:rect l="l" t="t" r="r" b="b"/>
            <a:pathLst>
              <a:path w="10077450" h="19050">
                <a:moveTo>
                  <a:pt x="10076968" y="19049"/>
                </a:moveTo>
                <a:lnTo>
                  <a:pt x="0" y="19049"/>
                </a:lnTo>
                <a:lnTo>
                  <a:pt x="0" y="0"/>
                </a:lnTo>
                <a:lnTo>
                  <a:pt x="10076968" y="0"/>
                </a:lnTo>
                <a:lnTo>
                  <a:pt x="10076968" y="19049"/>
                </a:lnTo>
                <a:close/>
              </a:path>
            </a:pathLst>
          </a:custGeom>
          <a:solidFill>
            <a:srgbClr val="D9D8E8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79791" y="5925793"/>
            <a:ext cx="1754422" cy="41907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62352" y="1539849"/>
            <a:ext cx="15195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0"/>
              <a:t>Results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970862" y="2313920"/>
            <a:ext cx="2875280" cy="10001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40">
                <a:solidFill>
                  <a:srgbClr val="D9D8E8"/>
                </a:solidFill>
                <a:latin typeface="Trebuchet MS"/>
                <a:cs typeface="Trebuchet MS"/>
              </a:rPr>
              <a:t>Improvedsegmentation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9D8E8"/>
                </a:solidFill>
                <a:latin typeface="Trebuchet MS"/>
                <a:cs typeface="Trebuchet MS"/>
              </a:rPr>
              <a:t>in</a:t>
            </a:r>
            <a:r>
              <a:rPr dirty="0" sz="1500" spc="-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low</a:t>
            </a:r>
            <a:r>
              <a:rPr dirty="0" sz="1500" spc="-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9D8E8"/>
                </a:solidFill>
                <a:latin typeface="Trebuchet MS"/>
                <a:cs typeface="Trebuchet MS"/>
              </a:rPr>
              <a:t>light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62500"/>
              </a:lnSpc>
              <a:tabLst>
                <a:tab pos="598170" algn="l"/>
                <a:tab pos="1652270" algn="l"/>
                <a:tab pos="2137410" algn="l"/>
              </a:tabLst>
            </a:pPr>
            <a:r>
              <a:rPr dirty="0" sz="1500" spc="-20">
                <a:solidFill>
                  <a:srgbClr val="D9D8E8"/>
                </a:solidFill>
                <a:latin typeface="Trebuchet MS"/>
                <a:cs typeface="Trebuchet MS"/>
              </a:rPr>
              <a:t>More</a:t>
            </a:r>
            <a:r>
              <a:rPr dirty="0" sz="1500">
                <a:solidFill>
                  <a:srgbClr val="D9D8E8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robustthan</a:t>
            </a:r>
            <a:r>
              <a:rPr dirty="0" sz="1500">
                <a:solidFill>
                  <a:srgbClr val="D9D8E8"/>
                </a:solidFill>
                <a:latin typeface="Trebuchet MS"/>
                <a:cs typeface="Trebuchet MS"/>
              </a:rPr>
              <a:t>	</a:t>
            </a:r>
            <a:r>
              <a:rPr dirty="0" sz="1500" spc="-25">
                <a:solidFill>
                  <a:srgbClr val="D9D8E8"/>
                </a:solidFill>
                <a:latin typeface="Trebuchet MS"/>
                <a:cs typeface="Trebuchet MS"/>
              </a:rPr>
              <a:t>RGB</a:t>
            </a:r>
            <a:r>
              <a:rPr dirty="0" sz="1500">
                <a:solidFill>
                  <a:srgbClr val="D9D8E8"/>
                </a:solidFill>
                <a:latin typeface="Trebuchet MS"/>
                <a:cs typeface="Trebuchet MS"/>
              </a:rPr>
              <a:t>	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baselines 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Better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utilization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of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9D8E8"/>
                </a:solidFill>
                <a:latin typeface="Trebuchet MS"/>
                <a:cs typeface="Trebuchet MS"/>
              </a:rPr>
              <a:t>sensor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9D8E8"/>
                </a:solidFill>
                <a:latin typeface="Trebuchet MS"/>
                <a:cs typeface="Trebuchet MS"/>
              </a:rPr>
              <a:t>cues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2352" y="3661528"/>
            <a:ext cx="4701540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Message: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9D8E8"/>
                </a:solidFill>
                <a:latin typeface="Trebuchet MS"/>
                <a:cs typeface="Trebuchet MS"/>
              </a:rPr>
              <a:t>Strong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gains,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constrained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9D8E8"/>
                </a:solidFill>
                <a:latin typeface="Trebuchet MS"/>
                <a:cs typeface="Trebuchet MS"/>
              </a:rPr>
              <a:t>by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supervision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and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9D8E8"/>
                </a:solidFill>
                <a:latin typeface="Trebuchet MS"/>
                <a:cs typeface="Trebuchet MS"/>
              </a:rPr>
              <a:t>data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08738" y="1539849"/>
            <a:ext cx="3738245" cy="17881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dirty="0" sz="3350" spc="160">
                <a:solidFill>
                  <a:srgbClr val="C6BEED"/>
                </a:solidFill>
                <a:latin typeface="Tahoma"/>
                <a:cs typeface="Tahoma"/>
              </a:rPr>
              <a:t>Limitations</a:t>
            </a:r>
            <a:endParaRPr sz="3350">
              <a:latin typeface="Tahoma"/>
              <a:cs typeface="Tahoma"/>
            </a:endParaRPr>
          </a:p>
          <a:p>
            <a:pPr marL="358775">
              <a:lnSpc>
                <a:spcPct val="100000"/>
              </a:lnSpc>
              <a:spcBef>
                <a:spcPts val="2105"/>
              </a:spcBef>
            </a:pP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Teacher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errors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canpropagate</a:t>
            </a:r>
            <a:endParaRPr sz="1500">
              <a:latin typeface="Trebuchet MS"/>
              <a:cs typeface="Trebuchet MS"/>
            </a:endParaRPr>
          </a:p>
          <a:p>
            <a:pPr marL="358775" marR="55880">
              <a:lnSpc>
                <a:spcPct val="162500"/>
              </a:lnSpc>
              <a:spcBef>
                <a:spcPts val="75"/>
              </a:spcBef>
              <a:tabLst>
                <a:tab pos="1981200" algn="l"/>
              </a:tabLst>
            </a:pPr>
            <a:r>
              <a:rPr dirty="0" sz="1500" spc="-40">
                <a:solidFill>
                  <a:srgbClr val="D9D8E8"/>
                </a:solidFill>
                <a:latin typeface="Trebuchet MS"/>
                <a:cs typeface="Trebuchet MS"/>
              </a:rPr>
              <a:t>Domain</a:t>
            </a:r>
            <a:r>
              <a:rPr dirty="0" sz="1500" spc="-12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gap:RGB</a:t>
            </a:r>
            <a:r>
              <a:rPr dirty="0" sz="1500" spc="6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baseline="14814" sz="2250" spc="-75">
                <a:solidFill>
                  <a:srgbClr val="D9D8E8"/>
                </a:solidFill>
                <a:latin typeface="Times New Roman"/>
                <a:cs typeface="Times New Roman"/>
              </a:rPr>
              <a:t>³</a:t>
            </a:r>
            <a:r>
              <a:rPr dirty="0" baseline="14814" sz="2250">
                <a:solidFill>
                  <a:srgbClr val="D9D8E8"/>
                </a:solidFill>
                <a:latin typeface="Times New Roman"/>
                <a:cs typeface="Times New Roman"/>
              </a:rPr>
              <a:t>	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RAWalignment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D9D8E8"/>
                </a:solidFill>
                <a:latin typeface="Trebuchet MS"/>
                <a:cs typeface="Trebuchet MS"/>
              </a:rPr>
              <a:t>issues 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Small </a:t>
            </a: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dataset;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limited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9D8E8"/>
                </a:solidFill>
                <a:latin typeface="Trebuchet MS"/>
                <a:cs typeface="Trebuchet MS"/>
              </a:rPr>
              <a:t>augmentation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62352" y="4444698"/>
            <a:ext cx="9729470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number: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Fatema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Tabassum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(2222904042),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D9D8E8"/>
                </a:solidFill>
                <a:latin typeface="Trebuchet MS"/>
                <a:cs typeface="Trebuchet MS"/>
              </a:rPr>
              <a:t>Amin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Labiba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D9D8E8"/>
                </a:solidFill>
                <a:latin typeface="Trebuchet MS"/>
                <a:cs typeface="Trebuchet MS"/>
              </a:rPr>
              <a:t>Ankon (2222568042)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751981" y="4258548"/>
            <a:ext cx="3678554" cy="2180590"/>
          </a:xfrm>
          <a:custGeom>
            <a:avLst/>
            <a:gdLst/>
            <a:ahLst/>
            <a:cxnLst/>
            <a:rect l="l" t="t" r="r" b="b"/>
            <a:pathLst>
              <a:path w="3678554" h="2180590">
                <a:moveTo>
                  <a:pt x="3678017" y="1078202"/>
                </a:moveTo>
                <a:lnTo>
                  <a:pt x="2227175" y="1078202"/>
                </a:lnTo>
                <a:lnTo>
                  <a:pt x="2275803" y="1077997"/>
                </a:lnTo>
                <a:lnTo>
                  <a:pt x="2324203" y="1076734"/>
                </a:lnTo>
                <a:lnTo>
                  <a:pt x="2374201" y="1074150"/>
                </a:lnTo>
                <a:lnTo>
                  <a:pt x="2373521" y="1074150"/>
                </a:lnTo>
                <a:lnTo>
                  <a:pt x="2420135" y="1070366"/>
                </a:lnTo>
                <a:lnTo>
                  <a:pt x="2467574" y="1064925"/>
                </a:lnTo>
                <a:lnTo>
                  <a:pt x="2514600" y="1057756"/>
                </a:lnTo>
                <a:lnTo>
                  <a:pt x="2561166" y="1048690"/>
                </a:lnTo>
                <a:lnTo>
                  <a:pt x="2607227" y="1037560"/>
                </a:lnTo>
                <a:lnTo>
                  <a:pt x="2652736" y="1024198"/>
                </a:lnTo>
                <a:lnTo>
                  <a:pt x="2698301" y="1008270"/>
                </a:lnTo>
                <a:lnTo>
                  <a:pt x="2742325" y="990350"/>
                </a:lnTo>
                <a:lnTo>
                  <a:pt x="2784880" y="970526"/>
                </a:lnTo>
                <a:lnTo>
                  <a:pt x="2826039" y="948887"/>
                </a:lnTo>
                <a:lnTo>
                  <a:pt x="2865874" y="925523"/>
                </a:lnTo>
                <a:lnTo>
                  <a:pt x="2904457" y="900522"/>
                </a:lnTo>
                <a:lnTo>
                  <a:pt x="2941862" y="873973"/>
                </a:lnTo>
                <a:lnTo>
                  <a:pt x="2978161" y="845966"/>
                </a:lnTo>
                <a:lnTo>
                  <a:pt x="3013426" y="816590"/>
                </a:lnTo>
                <a:lnTo>
                  <a:pt x="3047730" y="785933"/>
                </a:lnTo>
                <a:lnTo>
                  <a:pt x="3081145" y="754085"/>
                </a:lnTo>
                <a:lnTo>
                  <a:pt x="3113744" y="721135"/>
                </a:lnTo>
                <a:lnTo>
                  <a:pt x="3145600" y="687171"/>
                </a:lnTo>
                <a:lnTo>
                  <a:pt x="3176784" y="652284"/>
                </a:lnTo>
                <a:lnTo>
                  <a:pt x="3207369" y="616561"/>
                </a:lnTo>
                <a:lnTo>
                  <a:pt x="3237428" y="580092"/>
                </a:lnTo>
                <a:lnTo>
                  <a:pt x="3267034" y="542966"/>
                </a:lnTo>
                <a:lnTo>
                  <a:pt x="3296258" y="505272"/>
                </a:lnTo>
                <a:lnTo>
                  <a:pt x="3325173" y="467099"/>
                </a:lnTo>
                <a:lnTo>
                  <a:pt x="3353853" y="428537"/>
                </a:lnTo>
                <a:lnTo>
                  <a:pt x="3382369" y="389673"/>
                </a:lnTo>
                <a:lnTo>
                  <a:pt x="3496245" y="232991"/>
                </a:lnTo>
                <a:lnTo>
                  <a:pt x="3525030" y="193959"/>
                </a:lnTo>
                <a:lnTo>
                  <a:pt x="3554086" y="155161"/>
                </a:lnTo>
                <a:lnTo>
                  <a:pt x="3583486" y="116684"/>
                </a:lnTo>
                <a:lnTo>
                  <a:pt x="3613303" y="78620"/>
                </a:lnTo>
                <a:lnTo>
                  <a:pt x="3643608" y="41056"/>
                </a:lnTo>
                <a:lnTo>
                  <a:pt x="3674475" y="4082"/>
                </a:lnTo>
                <a:lnTo>
                  <a:pt x="3678017" y="0"/>
                </a:lnTo>
                <a:lnTo>
                  <a:pt x="3678017" y="1078202"/>
                </a:lnTo>
                <a:close/>
              </a:path>
              <a:path w="3678554" h="2180590">
                <a:moveTo>
                  <a:pt x="3678017" y="2180350"/>
                </a:moveTo>
                <a:lnTo>
                  <a:pt x="0" y="2180350"/>
                </a:lnTo>
                <a:lnTo>
                  <a:pt x="24768" y="2175520"/>
                </a:lnTo>
                <a:lnTo>
                  <a:pt x="72618" y="2164609"/>
                </a:lnTo>
                <a:lnTo>
                  <a:pt x="119750" y="2152063"/>
                </a:lnTo>
                <a:lnTo>
                  <a:pt x="166090" y="2137701"/>
                </a:lnTo>
                <a:lnTo>
                  <a:pt x="211563" y="2121345"/>
                </a:lnTo>
                <a:lnTo>
                  <a:pt x="256096" y="2102813"/>
                </a:lnTo>
                <a:lnTo>
                  <a:pt x="299614" y="2081925"/>
                </a:lnTo>
                <a:lnTo>
                  <a:pt x="342042" y="2058502"/>
                </a:lnTo>
                <a:lnTo>
                  <a:pt x="383307" y="2032362"/>
                </a:lnTo>
                <a:lnTo>
                  <a:pt x="422777" y="2003756"/>
                </a:lnTo>
                <a:lnTo>
                  <a:pt x="460148" y="1973085"/>
                </a:lnTo>
                <a:lnTo>
                  <a:pt x="495619" y="1940549"/>
                </a:lnTo>
                <a:lnTo>
                  <a:pt x="529388" y="1906344"/>
                </a:lnTo>
                <a:lnTo>
                  <a:pt x="561653" y="1870669"/>
                </a:lnTo>
                <a:lnTo>
                  <a:pt x="592612" y="1833722"/>
                </a:lnTo>
                <a:lnTo>
                  <a:pt x="622463" y="1795702"/>
                </a:lnTo>
                <a:lnTo>
                  <a:pt x="651406" y="1756805"/>
                </a:lnTo>
                <a:lnTo>
                  <a:pt x="679637" y="1717231"/>
                </a:lnTo>
                <a:lnTo>
                  <a:pt x="707355" y="1677178"/>
                </a:lnTo>
                <a:lnTo>
                  <a:pt x="789412" y="1556120"/>
                </a:lnTo>
                <a:lnTo>
                  <a:pt x="817059" y="1516128"/>
                </a:lnTo>
                <a:lnTo>
                  <a:pt x="845184" y="1476647"/>
                </a:lnTo>
                <a:lnTo>
                  <a:pt x="873985" y="1437876"/>
                </a:lnTo>
                <a:lnTo>
                  <a:pt x="903660" y="1400011"/>
                </a:lnTo>
                <a:lnTo>
                  <a:pt x="934408" y="1363251"/>
                </a:lnTo>
                <a:lnTo>
                  <a:pt x="966426" y="1327794"/>
                </a:lnTo>
                <a:lnTo>
                  <a:pt x="999912" y="1293838"/>
                </a:lnTo>
                <a:lnTo>
                  <a:pt x="1035065" y="1261581"/>
                </a:lnTo>
                <a:lnTo>
                  <a:pt x="1072084" y="1231222"/>
                </a:lnTo>
                <a:lnTo>
                  <a:pt x="1111165" y="1202957"/>
                </a:lnTo>
                <a:lnTo>
                  <a:pt x="1152508" y="1176987"/>
                </a:lnTo>
                <a:lnTo>
                  <a:pt x="1193579" y="1154793"/>
                </a:lnTo>
                <a:lnTo>
                  <a:pt x="1235489" y="1135400"/>
                </a:lnTo>
                <a:lnTo>
                  <a:pt x="1278191" y="1118642"/>
                </a:lnTo>
                <a:lnTo>
                  <a:pt x="1321639" y="1104349"/>
                </a:lnTo>
                <a:lnTo>
                  <a:pt x="1365786" y="1092355"/>
                </a:lnTo>
                <a:lnTo>
                  <a:pt x="1410586" y="1082492"/>
                </a:lnTo>
                <a:lnTo>
                  <a:pt x="1455993" y="1074591"/>
                </a:lnTo>
                <a:lnTo>
                  <a:pt x="1501959" y="1068485"/>
                </a:lnTo>
                <a:lnTo>
                  <a:pt x="1548440" y="1064007"/>
                </a:lnTo>
                <a:lnTo>
                  <a:pt x="1595388" y="1060987"/>
                </a:lnTo>
                <a:lnTo>
                  <a:pt x="1642758" y="1059260"/>
                </a:lnTo>
                <a:lnTo>
                  <a:pt x="1690502" y="1058656"/>
                </a:lnTo>
                <a:lnTo>
                  <a:pt x="1738575" y="1059008"/>
                </a:lnTo>
                <a:lnTo>
                  <a:pt x="1786930" y="1060149"/>
                </a:lnTo>
                <a:lnTo>
                  <a:pt x="1881718" y="1064007"/>
                </a:lnTo>
                <a:lnTo>
                  <a:pt x="1882006" y="1064007"/>
                </a:lnTo>
                <a:lnTo>
                  <a:pt x="2080390" y="1074150"/>
                </a:lnTo>
                <a:lnTo>
                  <a:pt x="2129422" y="1076111"/>
                </a:lnTo>
                <a:lnTo>
                  <a:pt x="2178366" y="1077517"/>
                </a:lnTo>
                <a:lnTo>
                  <a:pt x="2227175" y="1078202"/>
                </a:lnTo>
                <a:lnTo>
                  <a:pt x="3678017" y="1078202"/>
                </a:lnTo>
                <a:lnTo>
                  <a:pt x="3678017" y="2180350"/>
                </a:lnTo>
                <a:close/>
              </a:path>
            </a:pathLst>
          </a:custGeom>
          <a:solidFill>
            <a:srgbClr val="0A0C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249025" cy="6438900"/>
            <a:chOff x="0" y="0"/>
            <a:chExt cx="11249025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248551" cy="64388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6849" y="5930160"/>
              <a:ext cx="1726412" cy="41238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1575" y="455971"/>
            <a:ext cx="3599179" cy="5321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300" spc="180"/>
              <a:t>Future</a:t>
            </a:r>
            <a:r>
              <a:rPr dirty="0" sz="3300" spc="170"/>
              <a:t> </a:t>
            </a:r>
            <a:r>
              <a:rPr dirty="0" sz="3300" spc="180"/>
              <a:t>Directions</a:t>
            </a:r>
            <a:endParaRPr sz="3300"/>
          </a:p>
        </p:txBody>
      </p:sp>
      <p:sp>
        <p:nvSpPr>
          <p:cNvPr id="6" name="object 6" descr=""/>
          <p:cNvSpPr txBox="1"/>
          <p:nvPr/>
        </p:nvSpPr>
        <p:spPr>
          <a:xfrm>
            <a:off x="841368" y="3975312"/>
            <a:ext cx="152463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85">
                <a:solidFill>
                  <a:srgbClr val="D9D8E8"/>
                </a:solidFill>
                <a:latin typeface="Tahoma"/>
                <a:cs typeface="Tahoma"/>
              </a:rPr>
              <a:t>Scale</a:t>
            </a:r>
            <a:r>
              <a:rPr dirty="0" sz="1650" spc="80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650" spc="100">
                <a:solidFill>
                  <a:srgbClr val="D9D8E8"/>
                </a:solidFill>
                <a:latin typeface="Tahoma"/>
                <a:cs typeface="Tahoma"/>
              </a:rPr>
              <a:t>datasets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41368" y="2138304"/>
            <a:ext cx="2416810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80">
                <a:solidFill>
                  <a:srgbClr val="D9D8E8"/>
                </a:solidFill>
                <a:latin typeface="Tahoma"/>
                <a:cs typeface="Tahoma"/>
              </a:rPr>
              <a:t>Improve</a:t>
            </a:r>
            <a:r>
              <a:rPr dirty="0" sz="1650" spc="9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650" spc="135">
                <a:solidFill>
                  <a:srgbClr val="D9D8E8"/>
                </a:solidFill>
                <a:latin typeface="Tahoma"/>
                <a:cs typeface="Tahoma"/>
              </a:rPr>
              <a:t>pseudo-</a:t>
            </a:r>
            <a:r>
              <a:rPr dirty="0" sz="1650" spc="85">
                <a:solidFill>
                  <a:srgbClr val="D9D8E8"/>
                </a:solidFill>
                <a:latin typeface="Tahoma"/>
                <a:cs typeface="Tahoma"/>
              </a:rPr>
              <a:t>labels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95482" y="3975312"/>
            <a:ext cx="265493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90">
                <a:solidFill>
                  <a:srgbClr val="D9D8E8"/>
                </a:solidFill>
                <a:latin typeface="Tahoma"/>
                <a:cs typeface="Tahoma"/>
              </a:rPr>
              <a:t>End-</a:t>
            </a:r>
            <a:r>
              <a:rPr dirty="0" sz="1650" spc="110">
                <a:solidFill>
                  <a:srgbClr val="D9D8E8"/>
                </a:solidFill>
                <a:latin typeface="Tahoma"/>
                <a:cs typeface="Tahoma"/>
              </a:rPr>
              <a:t>to-</a:t>
            </a:r>
            <a:r>
              <a:rPr dirty="0" sz="1650" spc="140">
                <a:solidFill>
                  <a:srgbClr val="D9D8E8"/>
                </a:solidFill>
                <a:latin typeface="Tahoma"/>
                <a:cs typeface="Tahoma"/>
              </a:rPr>
              <a:t>end</a:t>
            </a:r>
            <a:r>
              <a:rPr dirty="0" sz="1650" spc="90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650" spc="145">
                <a:solidFill>
                  <a:srgbClr val="D9D8E8"/>
                </a:solidFill>
                <a:latin typeface="Tahoma"/>
                <a:cs typeface="Tahoma"/>
              </a:rPr>
              <a:t>RAW</a:t>
            </a:r>
            <a:r>
              <a:rPr dirty="0" sz="1650" spc="95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D9D8E8"/>
                </a:solidFill>
                <a:latin typeface="Tahoma"/>
                <a:cs typeface="Tahoma"/>
              </a:rPr>
              <a:t>training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1368" y="4380785"/>
            <a:ext cx="3700779" cy="253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DiverseRAWcaptures </a:t>
            </a:r>
            <a:r>
              <a:rPr dirty="0" sz="1500">
                <a:solidFill>
                  <a:srgbClr val="D9D8E8"/>
                </a:solidFill>
                <a:latin typeface="Trebuchet MS"/>
                <a:cs typeface="Trebuchet MS"/>
              </a:rPr>
              <a:t>+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synthetic</a:t>
            </a:r>
            <a:r>
              <a:rPr dirty="0" sz="1500" spc="-6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9D8E8"/>
                </a:solidFill>
                <a:latin typeface="Trebuchet MS"/>
                <a:cs typeface="Trebuchet MS"/>
              </a:rPr>
              <a:t>augmentation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41368" y="2553149"/>
            <a:ext cx="3615054" cy="253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85">
                <a:solidFill>
                  <a:srgbClr val="D9D8E8"/>
                </a:solidFill>
                <a:latin typeface="Trebuchet MS"/>
                <a:cs typeface="Trebuchet MS"/>
              </a:rPr>
              <a:t>Confidence-</a:t>
            </a: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basedfiltering&amp;ensemble</a:t>
            </a:r>
            <a:r>
              <a:rPr dirty="0" sz="1500" spc="18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9D8E8"/>
                </a:solidFill>
                <a:latin typeface="Trebuchet MS"/>
                <a:cs typeface="Trebuchet MS"/>
              </a:rPr>
              <a:t>teachers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95482" y="4380785"/>
            <a:ext cx="2866390" cy="253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>
                <a:solidFill>
                  <a:srgbClr val="D9D8E8"/>
                </a:solidFill>
                <a:latin typeface="Trebuchet MS"/>
                <a:cs typeface="Trebuchet MS"/>
              </a:rPr>
              <a:t>Remove</a:t>
            </a:r>
            <a:r>
              <a:rPr dirty="0" sz="1500" spc="-10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9D8E8"/>
                </a:solidFill>
                <a:latin typeface="Trebuchet MS"/>
                <a:cs typeface="Trebuchet MS"/>
              </a:rPr>
              <a:t>dependence</a:t>
            </a:r>
            <a:r>
              <a:rPr dirty="0" sz="1500" spc="-10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on</a:t>
            </a:r>
            <a:r>
              <a:rPr dirty="0" sz="1500" spc="-10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105">
                <a:solidFill>
                  <a:srgbClr val="D9D8E8"/>
                </a:solidFill>
                <a:latin typeface="Trebuchet MS"/>
                <a:cs typeface="Trebuchet MS"/>
              </a:rPr>
              <a:t>RGB</a:t>
            </a:r>
            <a:r>
              <a:rPr dirty="0" sz="1500" spc="-9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teacher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95482" y="2138304"/>
            <a:ext cx="2849880" cy="677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80">
                <a:solidFill>
                  <a:srgbClr val="D9D8E8"/>
                </a:solidFill>
                <a:latin typeface="Tahoma"/>
                <a:cs typeface="Tahoma"/>
              </a:rPr>
              <a:t>Domain</a:t>
            </a:r>
            <a:r>
              <a:rPr dirty="0" sz="1650" spc="100">
                <a:solidFill>
                  <a:srgbClr val="D9D8E8"/>
                </a:solidFill>
                <a:latin typeface="Tahoma"/>
                <a:cs typeface="Tahoma"/>
              </a:rPr>
              <a:t> </a:t>
            </a:r>
            <a:r>
              <a:rPr dirty="0" sz="1650" spc="105">
                <a:solidFill>
                  <a:srgbClr val="D9D8E8"/>
                </a:solidFill>
                <a:latin typeface="Tahoma"/>
                <a:cs typeface="Tahoma"/>
              </a:rPr>
              <a:t>adaptation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1336040" algn="l"/>
              </a:tabLst>
            </a:pPr>
            <a:r>
              <a:rPr dirty="0" sz="1500" spc="-50">
                <a:solidFill>
                  <a:srgbClr val="D9D8E8"/>
                </a:solidFill>
                <a:latin typeface="Trebuchet MS"/>
                <a:cs typeface="Trebuchet MS"/>
              </a:rPr>
              <a:t>Bridging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9D8E8"/>
                </a:solidFill>
                <a:latin typeface="Trebuchet MS"/>
                <a:cs typeface="Trebuchet MS"/>
              </a:rPr>
              <a:t>RGB</a:t>
            </a:r>
            <a:r>
              <a:rPr dirty="0" sz="1500">
                <a:solidFill>
                  <a:srgbClr val="D9D8E8"/>
                </a:solidFill>
                <a:latin typeface="Trebuchet MS"/>
                <a:cs typeface="Trebuchet MS"/>
              </a:rPr>
              <a:t>	</a:t>
            </a:r>
            <a:r>
              <a:rPr dirty="0" sz="1500" spc="-70">
                <a:solidFill>
                  <a:srgbClr val="D9D8E8"/>
                </a:solidFill>
                <a:latin typeface="Trebuchet MS"/>
                <a:cs typeface="Trebuchet MS"/>
              </a:rPr>
              <a:t>RAWfeature</a:t>
            </a:r>
            <a:r>
              <a:rPr dirty="0" sz="1500" spc="-6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9D8E8"/>
                </a:solidFill>
                <a:latin typeface="Trebuchet MS"/>
                <a:cs typeface="Trebuchet MS"/>
              </a:rPr>
              <a:t>spaces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1575" y="5338901"/>
            <a:ext cx="95745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100"/>
              </a:spcBef>
            </a:pP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Group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number: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20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Group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Fatema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Tabassum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(2222904042), Arefin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Amin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D9D8E8"/>
                </a:solidFill>
                <a:latin typeface="Trebuchet MS"/>
                <a:cs typeface="Trebuchet MS"/>
              </a:rPr>
              <a:t>Labiba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Karim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Hasan </a:t>
            </a:r>
            <a:r>
              <a:rPr dirty="0" sz="1200" spc="-10">
                <a:solidFill>
                  <a:srgbClr val="D9D8E8"/>
                </a:solidFill>
                <a:latin typeface="Trebuchet MS"/>
                <a:cs typeface="Trebuchet MS"/>
              </a:rPr>
              <a:t>Ankon (2222568042)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8877790" y="5493353"/>
            <a:ext cx="2369820" cy="946150"/>
          </a:xfrm>
          <a:custGeom>
            <a:avLst/>
            <a:gdLst/>
            <a:ahLst/>
            <a:cxnLst/>
            <a:rect l="l" t="t" r="r" b="b"/>
            <a:pathLst>
              <a:path w="2369820" h="946150">
                <a:moveTo>
                  <a:pt x="2369196" y="344670"/>
                </a:moveTo>
                <a:lnTo>
                  <a:pt x="1503488" y="344670"/>
                </a:lnTo>
                <a:lnTo>
                  <a:pt x="1551339" y="344468"/>
                </a:lnTo>
                <a:lnTo>
                  <a:pt x="1598967" y="343226"/>
                </a:lnTo>
                <a:lnTo>
                  <a:pt x="1648166" y="340683"/>
                </a:lnTo>
                <a:lnTo>
                  <a:pt x="1647497" y="340683"/>
                </a:lnTo>
                <a:lnTo>
                  <a:pt x="1693367" y="336960"/>
                </a:lnTo>
                <a:lnTo>
                  <a:pt x="1740048" y="331606"/>
                </a:lnTo>
                <a:lnTo>
                  <a:pt x="1786324" y="324550"/>
                </a:lnTo>
                <a:lnTo>
                  <a:pt x="1832147" y="315629"/>
                </a:lnTo>
                <a:lnTo>
                  <a:pt x="1877472" y="304677"/>
                </a:lnTo>
                <a:lnTo>
                  <a:pt x="1922255" y="291528"/>
                </a:lnTo>
                <a:lnTo>
                  <a:pt x="1968316" y="275391"/>
                </a:lnTo>
                <a:lnTo>
                  <a:pt x="2012777" y="257185"/>
                </a:lnTo>
                <a:lnTo>
                  <a:pt x="2055715" y="237006"/>
                </a:lnTo>
                <a:lnTo>
                  <a:pt x="2097209" y="214947"/>
                </a:lnTo>
                <a:lnTo>
                  <a:pt x="2137335" y="191106"/>
                </a:lnTo>
                <a:lnTo>
                  <a:pt x="2176171" y="165576"/>
                </a:lnTo>
                <a:lnTo>
                  <a:pt x="2213794" y="138453"/>
                </a:lnTo>
                <a:lnTo>
                  <a:pt x="2250282" y="109832"/>
                </a:lnTo>
                <a:lnTo>
                  <a:pt x="2285712" y="79808"/>
                </a:lnTo>
                <a:lnTo>
                  <a:pt x="2320161" y="48476"/>
                </a:lnTo>
                <a:lnTo>
                  <a:pt x="2353708" y="15932"/>
                </a:lnTo>
                <a:lnTo>
                  <a:pt x="2369196" y="0"/>
                </a:lnTo>
                <a:lnTo>
                  <a:pt x="2369196" y="344670"/>
                </a:lnTo>
                <a:close/>
              </a:path>
              <a:path w="2369820" h="946150">
                <a:moveTo>
                  <a:pt x="2369196" y="945545"/>
                </a:moveTo>
                <a:lnTo>
                  <a:pt x="0" y="945545"/>
                </a:lnTo>
                <a:lnTo>
                  <a:pt x="7932" y="934083"/>
                </a:lnTo>
                <a:lnTo>
                  <a:pt x="88679" y="814958"/>
                </a:lnTo>
                <a:lnTo>
                  <a:pt x="115885" y="775605"/>
                </a:lnTo>
                <a:lnTo>
                  <a:pt x="143561" y="736755"/>
                </a:lnTo>
                <a:lnTo>
                  <a:pt x="171902" y="698602"/>
                </a:lnTo>
                <a:lnTo>
                  <a:pt x="201103" y="661341"/>
                </a:lnTo>
                <a:lnTo>
                  <a:pt x="231360" y="625168"/>
                </a:lnTo>
                <a:lnTo>
                  <a:pt x="262867" y="590277"/>
                </a:lnTo>
                <a:lnTo>
                  <a:pt x="295818" y="556864"/>
                </a:lnTo>
                <a:lnTo>
                  <a:pt x="330410" y="525122"/>
                </a:lnTo>
                <a:lnTo>
                  <a:pt x="366838" y="495247"/>
                </a:lnTo>
                <a:lnTo>
                  <a:pt x="405295" y="467434"/>
                </a:lnTo>
                <a:lnTo>
                  <a:pt x="445977" y="441878"/>
                </a:lnTo>
                <a:lnTo>
                  <a:pt x="486394" y="420038"/>
                </a:lnTo>
                <a:lnTo>
                  <a:pt x="527634" y="400955"/>
                </a:lnTo>
                <a:lnTo>
                  <a:pt x="569655" y="384465"/>
                </a:lnTo>
                <a:lnTo>
                  <a:pt x="612409" y="370400"/>
                </a:lnTo>
                <a:lnTo>
                  <a:pt x="655851" y="358598"/>
                </a:lnTo>
                <a:lnTo>
                  <a:pt x="699936" y="348892"/>
                </a:lnTo>
                <a:lnTo>
                  <a:pt x="744617" y="341117"/>
                </a:lnTo>
                <a:lnTo>
                  <a:pt x="789850" y="335109"/>
                </a:lnTo>
                <a:lnTo>
                  <a:pt x="835589" y="330702"/>
                </a:lnTo>
                <a:lnTo>
                  <a:pt x="881788" y="327731"/>
                </a:lnTo>
                <a:lnTo>
                  <a:pt x="928401" y="326031"/>
                </a:lnTo>
                <a:lnTo>
                  <a:pt x="975383" y="325437"/>
                </a:lnTo>
                <a:lnTo>
                  <a:pt x="1022688" y="325783"/>
                </a:lnTo>
                <a:lnTo>
                  <a:pt x="1070271" y="326906"/>
                </a:lnTo>
                <a:lnTo>
                  <a:pt x="1163546" y="330702"/>
                </a:lnTo>
                <a:lnTo>
                  <a:pt x="1163830" y="330702"/>
                </a:lnTo>
                <a:lnTo>
                  <a:pt x="1359046" y="340683"/>
                </a:lnTo>
                <a:lnTo>
                  <a:pt x="1407296" y="342612"/>
                </a:lnTo>
                <a:lnTo>
                  <a:pt x="1455458" y="343996"/>
                </a:lnTo>
                <a:lnTo>
                  <a:pt x="1503488" y="344670"/>
                </a:lnTo>
                <a:lnTo>
                  <a:pt x="2369196" y="344670"/>
                </a:lnTo>
                <a:lnTo>
                  <a:pt x="2369196" y="945545"/>
                </a:lnTo>
                <a:close/>
              </a:path>
            </a:pathLst>
          </a:custGeom>
          <a:solidFill>
            <a:srgbClr val="0A0C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412" y="257"/>
            <a:ext cx="4284047" cy="643808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76242" y="3828868"/>
            <a:ext cx="5791200" cy="9525"/>
          </a:xfrm>
          <a:custGeom>
            <a:avLst/>
            <a:gdLst/>
            <a:ahLst/>
            <a:cxnLst/>
            <a:rect l="l" t="t" r="r" b="b"/>
            <a:pathLst>
              <a:path w="5791200" h="9525">
                <a:moveTo>
                  <a:pt x="5790925" y="9524"/>
                </a:moveTo>
                <a:lnTo>
                  <a:pt x="0" y="9524"/>
                </a:lnTo>
                <a:lnTo>
                  <a:pt x="0" y="0"/>
                </a:lnTo>
                <a:lnTo>
                  <a:pt x="5790925" y="0"/>
                </a:lnTo>
                <a:lnTo>
                  <a:pt x="5790925" y="9524"/>
                </a:lnTo>
                <a:close/>
              </a:path>
            </a:pathLst>
          </a:custGeom>
          <a:solidFill>
            <a:srgbClr val="D9D8E8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161" y="3238108"/>
            <a:ext cx="276211" cy="28573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8906962" y="5347375"/>
            <a:ext cx="2523490" cy="1091565"/>
            <a:chOff x="8906962" y="5347375"/>
            <a:chExt cx="2523490" cy="109156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79791" y="5925793"/>
              <a:ext cx="1754422" cy="41907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906962" y="5347375"/>
              <a:ext cx="2523490" cy="1091565"/>
            </a:xfrm>
            <a:custGeom>
              <a:avLst/>
              <a:gdLst/>
              <a:ahLst/>
              <a:cxnLst/>
              <a:rect l="l" t="t" r="r" b="b"/>
              <a:pathLst>
                <a:path w="2523490" h="1091564">
                  <a:moveTo>
                    <a:pt x="2523037" y="473997"/>
                  </a:moveTo>
                  <a:lnTo>
                    <a:pt x="1532658" y="473997"/>
                  </a:lnTo>
                  <a:lnTo>
                    <a:pt x="1581286" y="473792"/>
                  </a:lnTo>
                  <a:lnTo>
                    <a:pt x="1629686" y="472529"/>
                  </a:lnTo>
                  <a:lnTo>
                    <a:pt x="1679684" y="469945"/>
                  </a:lnTo>
                  <a:lnTo>
                    <a:pt x="1679004" y="469945"/>
                  </a:lnTo>
                  <a:lnTo>
                    <a:pt x="1725617" y="466161"/>
                  </a:lnTo>
                  <a:lnTo>
                    <a:pt x="1773056" y="460720"/>
                  </a:lnTo>
                  <a:lnTo>
                    <a:pt x="1820082" y="453551"/>
                  </a:lnTo>
                  <a:lnTo>
                    <a:pt x="1866649" y="444485"/>
                  </a:lnTo>
                  <a:lnTo>
                    <a:pt x="1912710" y="433355"/>
                  </a:lnTo>
                  <a:lnTo>
                    <a:pt x="1958219" y="419993"/>
                  </a:lnTo>
                  <a:lnTo>
                    <a:pt x="2003784" y="404065"/>
                  </a:lnTo>
                  <a:lnTo>
                    <a:pt x="2047808" y="386145"/>
                  </a:lnTo>
                  <a:lnTo>
                    <a:pt x="2090363" y="366321"/>
                  </a:lnTo>
                  <a:lnTo>
                    <a:pt x="2131521" y="344682"/>
                  </a:lnTo>
                  <a:lnTo>
                    <a:pt x="2171356" y="321318"/>
                  </a:lnTo>
                  <a:lnTo>
                    <a:pt x="2209940" y="296317"/>
                  </a:lnTo>
                  <a:lnTo>
                    <a:pt x="2247345" y="269768"/>
                  </a:lnTo>
                  <a:lnTo>
                    <a:pt x="2283644" y="241761"/>
                  </a:lnTo>
                  <a:lnTo>
                    <a:pt x="2318909" y="212385"/>
                  </a:lnTo>
                  <a:lnTo>
                    <a:pt x="2353213" y="181728"/>
                  </a:lnTo>
                  <a:lnTo>
                    <a:pt x="2386628" y="149880"/>
                  </a:lnTo>
                  <a:lnTo>
                    <a:pt x="2419227" y="116930"/>
                  </a:lnTo>
                  <a:lnTo>
                    <a:pt x="2451083" y="82966"/>
                  </a:lnTo>
                  <a:lnTo>
                    <a:pt x="2482267" y="48079"/>
                  </a:lnTo>
                  <a:lnTo>
                    <a:pt x="2512852" y="12356"/>
                  </a:lnTo>
                  <a:lnTo>
                    <a:pt x="2523037" y="0"/>
                  </a:lnTo>
                  <a:lnTo>
                    <a:pt x="2523037" y="473997"/>
                  </a:lnTo>
                  <a:close/>
                </a:path>
                <a:path w="2523490" h="1091564">
                  <a:moveTo>
                    <a:pt x="2523037" y="1091524"/>
                  </a:moveTo>
                  <a:lnTo>
                    <a:pt x="0" y="1091524"/>
                  </a:lnTo>
                  <a:lnTo>
                    <a:pt x="12838" y="1072973"/>
                  </a:lnTo>
                  <a:lnTo>
                    <a:pt x="94895" y="951915"/>
                  </a:lnTo>
                  <a:lnTo>
                    <a:pt x="122542" y="911923"/>
                  </a:lnTo>
                  <a:lnTo>
                    <a:pt x="150667" y="872443"/>
                  </a:lnTo>
                  <a:lnTo>
                    <a:pt x="179468" y="833671"/>
                  </a:lnTo>
                  <a:lnTo>
                    <a:pt x="209143" y="795806"/>
                  </a:lnTo>
                  <a:lnTo>
                    <a:pt x="239891" y="759046"/>
                  </a:lnTo>
                  <a:lnTo>
                    <a:pt x="271909" y="723589"/>
                  </a:lnTo>
                  <a:lnTo>
                    <a:pt x="305395" y="689633"/>
                  </a:lnTo>
                  <a:lnTo>
                    <a:pt x="340548" y="657376"/>
                  </a:lnTo>
                  <a:lnTo>
                    <a:pt x="377567" y="627017"/>
                  </a:lnTo>
                  <a:lnTo>
                    <a:pt x="416648" y="598752"/>
                  </a:lnTo>
                  <a:lnTo>
                    <a:pt x="457990" y="572782"/>
                  </a:lnTo>
                  <a:lnTo>
                    <a:pt x="499062" y="550588"/>
                  </a:lnTo>
                  <a:lnTo>
                    <a:pt x="540972" y="531195"/>
                  </a:lnTo>
                  <a:lnTo>
                    <a:pt x="583674" y="514437"/>
                  </a:lnTo>
                  <a:lnTo>
                    <a:pt x="627122" y="500144"/>
                  </a:lnTo>
                  <a:lnTo>
                    <a:pt x="671269" y="488150"/>
                  </a:lnTo>
                  <a:lnTo>
                    <a:pt x="716069" y="478287"/>
                  </a:lnTo>
                  <a:lnTo>
                    <a:pt x="761475" y="470386"/>
                  </a:lnTo>
                  <a:lnTo>
                    <a:pt x="807442" y="464280"/>
                  </a:lnTo>
                  <a:lnTo>
                    <a:pt x="853923" y="459802"/>
                  </a:lnTo>
                  <a:lnTo>
                    <a:pt x="900871" y="456782"/>
                  </a:lnTo>
                  <a:lnTo>
                    <a:pt x="948241" y="455055"/>
                  </a:lnTo>
                  <a:lnTo>
                    <a:pt x="995985" y="454451"/>
                  </a:lnTo>
                  <a:lnTo>
                    <a:pt x="1044058" y="454803"/>
                  </a:lnTo>
                  <a:lnTo>
                    <a:pt x="1092413" y="455944"/>
                  </a:lnTo>
                  <a:lnTo>
                    <a:pt x="1187201" y="459802"/>
                  </a:lnTo>
                  <a:lnTo>
                    <a:pt x="1187489" y="459802"/>
                  </a:lnTo>
                  <a:lnTo>
                    <a:pt x="1385873" y="469945"/>
                  </a:lnTo>
                  <a:lnTo>
                    <a:pt x="1434905" y="471906"/>
                  </a:lnTo>
                  <a:lnTo>
                    <a:pt x="1483849" y="473312"/>
                  </a:lnTo>
                  <a:lnTo>
                    <a:pt x="1532658" y="473997"/>
                  </a:lnTo>
                  <a:lnTo>
                    <a:pt x="2523037" y="473997"/>
                  </a:lnTo>
                  <a:lnTo>
                    <a:pt x="2523037" y="1091524"/>
                  </a:lnTo>
                  <a:close/>
                </a:path>
              </a:pathLst>
            </a:custGeom>
            <a:solidFill>
              <a:srgbClr val="0A0C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55406" y="1711338"/>
            <a:ext cx="4569460" cy="1054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750" spc="325"/>
              <a:t>Thank</a:t>
            </a:r>
            <a:r>
              <a:rPr dirty="0" sz="6750" spc="330"/>
              <a:t> </a:t>
            </a:r>
            <a:r>
              <a:rPr dirty="0" sz="6750" spc="605"/>
              <a:t>You</a:t>
            </a:r>
            <a:endParaRPr sz="6750"/>
          </a:p>
        </p:txBody>
      </p:sp>
      <p:sp>
        <p:nvSpPr>
          <p:cNvPr id="9" name="object 9" descr=""/>
          <p:cNvSpPr txBox="1"/>
          <p:nvPr/>
        </p:nvSpPr>
        <p:spPr>
          <a:xfrm>
            <a:off x="893617" y="3308424"/>
            <a:ext cx="526415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60">
                <a:solidFill>
                  <a:srgbClr val="A85B94"/>
                </a:solidFill>
                <a:latin typeface="Trebuchet MS"/>
                <a:cs typeface="Trebuchet MS"/>
              </a:rPr>
              <a:t>PROJECT:</a:t>
            </a:r>
            <a:r>
              <a:rPr dirty="0" sz="700" spc="10">
                <a:solidFill>
                  <a:srgbClr val="A85B94"/>
                </a:solidFill>
                <a:latin typeface="Trebuchet MS"/>
                <a:cs typeface="Trebuchet MS"/>
              </a:rPr>
              <a:t> </a:t>
            </a:r>
            <a:r>
              <a:rPr dirty="0" sz="700" spc="-20">
                <a:solidFill>
                  <a:srgbClr val="A85B94"/>
                </a:solidFill>
                <a:latin typeface="Trebuchet MS"/>
                <a:cs typeface="Trebuchet MS"/>
              </a:rPr>
              <a:t>IRIS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2352" y="4016094"/>
            <a:ext cx="5494655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 number: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D9D8E8"/>
                </a:solidFill>
                <a:latin typeface="Trebuchet MS"/>
                <a:cs typeface="Trebuchet MS"/>
              </a:rPr>
              <a:t>11,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Group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members: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Fatema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Tabassum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Elma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(2222904042),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Arefin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D9D8E8"/>
                </a:solidFill>
                <a:latin typeface="Trebuchet MS"/>
                <a:cs typeface="Trebuchet MS"/>
              </a:rPr>
              <a:t>Amin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(2221766642),</a:t>
            </a:r>
            <a:r>
              <a:rPr dirty="0" sz="1200" spc="-55">
                <a:solidFill>
                  <a:srgbClr val="D9D8E8"/>
                </a:solidFill>
                <a:latin typeface="Trebuchet MS"/>
                <a:cs typeface="Trebuchet MS"/>
              </a:rPr>
              <a:t> Labiba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D9D8E8"/>
                </a:solidFill>
                <a:latin typeface="Trebuchet MS"/>
                <a:cs typeface="Trebuchet MS"/>
              </a:rPr>
              <a:t>Faiza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Karim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(2221454042),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D9D8E8"/>
                </a:solidFill>
                <a:latin typeface="Trebuchet MS"/>
                <a:cs typeface="Trebuchet MS"/>
              </a:rPr>
              <a:t>Ratul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D9D8E8"/>
                </a:solidFill>
                <a:latin typeface="Trebuchet MS"/>
                <a:cs typeface="Trebuchet MS"/>
              </a:rPr>
              <a:t>Hasan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D9D8E8"/>
                </a:solidFill>
                <a:latin typeface="Trebuchet MS"/>
                <a:cs typeface="Trebuchet MS"/>
              </a:rPr>
              <a:t>Ankon</a:t>
            </a:r>
            <a:r>
              <a:rPr dirty="0" sz="1200" spc="-50">
                <a:solidFill>
                  <a:srgbClr val="D9D8E8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D9D8E8"/>
                </a:solidFill>
                <a:latin typeface="Trebuchet MS"/>
                <a:cs typeface="Trebuchet MS"/>
              </a:rPr>
              <a:t>(2222568042)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Fatema Tabassum Elma 2222904042</dc:creator>
  <cp:keywords>DAHIpTz5AJA,BAFeV4mwY1Q,0</cp:keywords>
  <dc:title>IRIS-ISP-Free-RAW-Image-Semantic-Segmentation.pdf</dc:title>
  <dcterms:created xsi:type="dcterms:W3CDTF">2026-05-04T08:14:48Z</dcterms:created>
  <dcterms:modified xsi:type="dcterms:W3CDTF">2026-05-04T08:14:48Z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2026-05-04T00:00:00Z</vt:filetime>
  </property>
  <property fmtid="{D5CDD505-2E9C-101B-9397-08002B2CF9AE}" pid="5" name="Producer">
    <vt:lpwstr>Canva</vt:lpwstr>
  </property>
</Properties>
</file>